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256" r:id="rId2"/>
    <p:sldId id="257" r:id="rId3"/>
    <p:sldId id="269" r:id="rId4"/>
    <p:sldId id="273" r:id="rId5"/>
    <p:sldId id="272" r:id="rId6"/>
    <p:sldId id="275" r:id="rId7"/>
    <p:sldId id="268" r:id="rId8"/>
    <p:sldId id="276" r:id="rId9"/>
    <p:sldId id="277" r:id="rId10"/>
    <p:sldId id="278" r:id="rId11"/>
    <p:sldId id="279" r:id="rId12"/>
    <p:sldId id="280" r:id="rId13"/>
    <p:sldId id="281" r:id="rId14"/>
    <p:sldId id="274" r:id="rId15"/>
    <p:sldId id="265" r:id="rId16"/>
    <p:sldId id="26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7" d="100"/>
          <a:sy n="77" d="100"/>
        </p:scale>
        <p:origin x="86"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20AE67D4-1BD1-C862-2DD5-B68BEBDE7B00}"/>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BD5F6BCD-F072-9C1B-DFBF-5650E3B17F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26CB27DC-AD93-E0CF-38A8-12E000DA4C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9642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48931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2DB35CE9-7D40-8761-0838-8240FBE63442}"/>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058B3842-D3C4-D9FD-B147-182667B9AA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F99E2C5E-D35A-C93A-5F3D-1AA46C3631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7011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US" sz="2400" dirty="0">
                <a:solidFill>
                  <a:schemeClr val="tx1"/>
                </a:solidFill>
                <a:latin typeface="Cambria" panose="02040503050406030204" pitchFamily="18" charset="0"/>
                <a:ea typeface="Cambria" panose="02040503050406030204" pitchFamily="18" charset="0"/>
              </a:rPr>
              <a:t>REAL-TIME PUBLIC TRANSPORT TRACKING FOR SMALL CITIES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CSG-45</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dirty="0">
                <a:solidFill>
                  <a:srgbClr val="17365D"/>
                </a:solidFill>
                <a:latin typeface="Cambria" panose="02040503050406030204" pitchFamily="18" charset="0"/>
                <a:ea typeface="Cambria" panose="02040503050406030204" pitchFamily="18" charset="0"/>
                <a:sym typeface="Verdana"/>
              </a:rPr>
              <a:t>Ms. Shet Reshma Prakash</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886409593"/>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23348" y="-152964"/>
            <a:ext cx="5690338"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endParaRPr sz="24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24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24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665876"/>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CSG AIML</a:t>
            </a:r>
          </a:p>
          <a:p>
            <a:pPr>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1800" b="1" dirty="0"/>
              <a:t>Dr . Pallavi</a:t>
            </a:r>
          </a:p>
          <a:p>
            <a:pPr>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800" b="1" dirty="0">
                <a:solidFill>
                  <a:schemeClr val="tx1"/>
                </a:solidFill>
              </a:rPr>
              <a:t>Ms Benitha </a:t>
            </a:r>
            <a:r>
              <a:rPr lang="en-IN" sz="1800" b="1" dirty="0" err="1">
                <a:solidFill>
                  <a:schemeClr val="tx1"/>
                </a:solidFill>
              </a:rPr>
              <a:t>Christinal</a:t>
            </a:r>
            <a:r>
              <a:rPr lang="en-IN" sz="1800" b="1" dirty="0">
                <a:solidFill>
                  <a:schemeClr val="tx1"/>
                </a:solidFill>
              </a:rPr>
              <a:t> J</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5" name="Table 4">
            <a:extLst>
              <a:ext uri="{FF2B5EF4-FFF2-40B4-BE49-F238E27FC236}">
                <a16:creationId xmlns:a16="http://schemas.microsoft.com/office/drawing/2014/main" id="{F15BA45B-4C38-FF79-41D1-624F60B064FC}"/>
              </a:ext>
            </a:extLst>
          </p:cNvPr>
          <p:cNvGraphicFramePr>
            <a:graphicFrameLocks noGrp="1"/>
          </p:cNvGraphicFramePr>
          <p:nvPr>
            <p:extLst>
              <p:ext uri="{D42A27DB-BD31-4B8C-83A1-F6EECF244321}">
                <p14:modId xmlns:p14="http://schemas.microsoft.com/office/powerpoint/2010/main" val="1603795488"/>
              </p:ext>
            </p:extLst>
          </p:nvPr>
        </p:nvGraphicFramePr>
        <p:xfrm>
          <a:off x="565267" y="3262890"/>
          <a:ext cx="5016444" cy="741680"/>
        </p:xfrm>
        <a:graphic>
          <a:graphicData uri="http://schemas.openxmlformats.org/drawingml/2006/table">
            <a:tbl>
              <a:tblPr firstRow="1" bandRow="1"/>
              <a:tblGrid>
                <a:gridCol w="2508222">
                  <a:extLst>
                    <a:ext uri="{9D8B030D-6E8A-4147-A177-3AD203B41FA5}">
                      <a16:colId xmlns:a16="http://schemas.microsoft.com/office/drawing/2014/main" val="2225602218"/>
                    </a:ext>
                  </a:extLst>
                </a:gridCol>
                <a:gridCol w="2508222">
                  <a:extLst>
                    <a:ext uri="{9D8B030D-6E8A-4147-A177-3AD203B41FA5}">
                      <a16:colId xmlns:a16="http://schemas.microsoft.com/office/drawing/2014/main" val="2754455459"/>
                    </a:ext>
                  </a:extLst>
                </a:gridCol>
              </a:tblGrid>
              <a:tr h="370840">
                <a:tc>
                  <a:txBody>
                    <a:bodyPr/>
                    <a:lstStyle/>
                    <a:p>
                      <a:r>
                        <a:rPr lang="en-US" dirty="0"/>
                        <a:t>20221CSG0052</a:t>
                      </a:r>
                      <a:endParaRPr lang="en-IN" dirty="0"/>
                    </a:p>
                  </a:txBody>
                  <a:tcPr/>
                </a:tc>
                <a:tc>
                  <a:txBody>
                    <a:bodyPr/>
                    <a:lstStyle/>
                    <a:p>
                      <a:r>
                        <a:rPr lang="en-US" dirty="0" err="1"/>
                        <a:t>Kumudh</a:t>
                      </a:r>
                      <a:r>
                        <a:rPr lang="en-US" dirty="0"/>
                        <a:t> Rao </a:t>
                      </a:r>
                      <a:r>
                        <a:rPr lang="en-US" dirty="0" err="1"/>
                        <a:t>Harale</a:t>
                      </a:r>
                      <a:r>
                        <a:rPr lang="en-US" dirty="0"/>
                        <a:t> M</a:t>
                      </a:r>
                      <a:endParaRPr lang="en-IN" dirty="0"/>
                    </a:p>
                  </a:txBody>
                  <a:tcPr/>
                </a:tc>
                <a:extLst>
                  <a:ext uri="{0D108BD9-81ED-4DB2-BD59-A6C34878D82A}">
                    <a16:rowId xmlns:a16="http://schemas.microsoft.com/office/drawing/2014/main" val="1690525169"/>
                  </a:ext>
                </a:extLst>
              </a:tr>
              <a:tr h="370840">
                <a:tc>
                  <a:txBody>
                    <a:bodyPr/>
                    <a:lstStyle/>
                    <a:p>
                      <a:r>
                        <a:rPr lang="en-US" dirty="0"/>
                        <a:t>20221CSG0078</a:t>
                      </a:r>
                      <a:endParaRPr lang="en-IN" dirty="0"/>
                    </a:p>
                  </a:txBody>
                  <a:tcPr/>
                </a:tc>
                <a:tc>
                  <a:txBody>
                    <a:bodyPr/>
                    <a:lstStyle/>
                    <a:p>
                      <a:r>
                        <a:rPr lang="en-US" dirty="0" err="1"/>
                        <a:t>Keerthi.G</a:t>
                      </a:r>
                      <a:endParaRPr lang="en-IN" dirty="0"/>
                    </a:p>
                  </a:txBody>
                  <a:tcPr/>
                </a:tc>
                <a:extLst>
                  <a:ext uri="{0D108BD9-81ED-4DB2-BD59-A6C34878D82A}">
                    <a16:rowId xmlns:a16="http://schemas.microsoft.com/office/drawing/2014/main" val="182613742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118587"/>
            <a:ext cx="10668000" cy="5175682"/>
          </a:xfrm>
          <a:prstGeom prst="rect">
            <a:avLst/>
          </a:prstGeom>
          <a:noFill/>
          <a:ln>
            <a:noFill/>
          </a:ln>
        </p:spPr>
        <p:txBody>
          <a:bodyPr spcFirstLastPara="1" wrap="square" lIns="91425" tIns="45700" rIns="91425" bIns="45700" anchor="t" anchorCtr="0">
            <a:normAutofit fontScale="775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Abstract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Literature Survey</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Existing methods and drawbacks</a:t>
            </a:r>
          </a:p>
          <a:p>
            <a:pPr marL="495300" lvl="0" indent="-342900" algn="just">
              <a:lnSpc>
                <a:spcPct val="200000"/>
              </a:lnSpc>
              <a:spcBef>
                <a:spcPts val="0"/>
              </a:spcBef>
              <a:buFont typeface="Arial" panose="020B0604020202020204" pitchFamily="34" charset="0"/>
              <a:buChar char="•"/>
            </a:pPr>
            <a:r>
              <a:rPr lang="en-US" sz="3200" dirty="0">
                <a:latin typeface="Cambria" panose="02040503050406030204" pitchFamily="18" charset="0"/>
                <a:ea typeface="Cambria" panose="02040503050406030204" pitchFamily="18" charset="0"/>
              </a:rPr>
              <a:t>Architecture Diagram</a:t>
            </a:r>
          </a:p>
          <a:p>
            <a:pPr marL="495300" lvl="0" indent="-342900" algn="just">
              <a:lnSpc>
                <a:spcPct val="200000"/>
              </a:lnSpc>
              <a:spcBef>
                <a:spcPts val="0"/>
              </a:spcBef>
              <a:buFont typeface="Arial" panose="020B0604020202020204" pitchFamily="34" charset="0"/>
              <a:buChar char="•"/>
            </a:pPr>
            <a:r>
              <a:rPr lang="en-US" sz="3200" dirty="0">
                <a:latin typeface="Cambria" panose="02040503050406030204" pitchFamily="18" charset="0"/>
                <a:ea typeface="Cambria" panose="02040503050406030204" pitchFamily="18" charset="0"/>
              </a:rPr>
              <a:t>Modules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Software details</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Abstract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lnSpcReduction="20000"/>
          </a:bodyPr>
          <a:lstStyle/>
          <a:p>
            <a:pPr marL="342900" lvl="0" indent="-190500" algn="just">
              <a:lnSpc>
                <a:spcPct val="200000"/>
              </a:lnSpc>
              <a:spcBef>
                <a:spcPts val="0"/>
              </a:spcBef>
              <a:buNone/>
            </a:pPr>
            <a:r>
              <a:rPr lang="en-US" dirty="0"/>
              <a:t>Real-time public transport tracking systems have become essential for improving urban mobility, yet most existing solutions are designed for large metropolitan areas and are often costly and complex to deploy. Small cities face unique challenges such as limited infrastructure, budget constraints, and lower technological adoption. This project proposes a </a:t>
            </a:r>
            <a:r>
              <a:rPr lang="en-US" b="1" dirty="0"/>
              <a:t>Real-Time Public Transport Tracking System tailored for small cities</a:t>
            </a:r>
            <a:r>
              <a:rPr lang="en-US" dirty="0"/>
              <a:t>, aimed at enhancing commuter convenience, operational efficiency, and service reliability.</a:t>
            </a: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dirty="0"/>
              <a:t>Literature Survey</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03050"/>
            <a:ext cx="10668000" cy="4651899"/>
          </a:xfrm>
          <a:prstGeom prst="rect">
            <a:avLst/>
          </a:prstGeom>
          <a:noFill/>
          <a:ln>
            <a:noFill/>
          </a:ln>
        </p:spPr>
        <p:txBody>
          <a:bodyPr spcFirstLastPara="1" wrap="square" lIns="91425" tIns="45700" rIns="91425" bIns="45700" anchor="t" anchorCtr="0">
            <a:normAutofit/>
          </a:bodyPr>
          <a:lstStyle/>
          <a:p>
            <a:pPr marL="76200" indent="0">
              <a:buNone/>
            </a:pPr>
            <a:r>
              <a:rPr lang="en-US" sz="2800" dirty="0"/>
              <a:t>Real-time public transport tracking systems improve commuter satisfaction by providing live vehicle status and arrival information. Recent research shows a shift from hardware-intensive tracking systems toward </a:t>
            </a:r>
            <a:r>
              <a:rPr lang="en-US" sz="2800" b="1" dirty="0"/>
              <a:t>software-driven solutions</a:t>
            </a:r>
            <a:r>
              <a:rPr lang="en-US" sz="2800" dirty="0"/>
              <a:t> that rely on </a:t>
            </a:r>
            <a:r>
              <a:rPr lang="en-US" sz="2800" b="1" dirty="0"/>
              <a:t>front-end applications and back-end servers</a:t>
            </a:r>
            <a:r>
              <a:rPr lang="en-US" sz="2800" dirty="0"/>
              <a:t>. This transition is especially relevant for small cities, where limited budgets and infrastructure make traditional GPS-based systems difficult to implement.</a:t>
            </a:r>
            <a:endParaRPr lang="en-US" sz="2800" dirty="0">
              <a:latin typeface="Cambria" panose="02040503050406030204" pitchFamily="18" charset="0"/>
              <a:ea typeface="Cambria" panose="02040503050406030204" pitchFamily="18" charset="0"/>
            </a:endParaRPr>
          </a:p>
          <a:p>
            <a:pPr marL="152400" indent="0" algn="just">
              <a:spcBef>
                <a:spcPts val="0"/>
              </a:spcBef>
              <a:buSzPct val="100000"/>
              <a:buNone/>
            </a:pPr>
            <a:endParaRPr lang="en-US" sz="1800" dirty="0">
              <a:latin typeface="Cambria" panose="02040503050406030204" pitchFamily="18" charset="0"/>
              <a:ea typeface="Cambria" panose="02040503050406030204" pitchFamily="18" charset="0"/>
            </a:endParaRPr>
          </a:p>
          <a:p>
            <a:pPr marL="152400" indent="0" algn="just">
              <a:spcBef>
                <a:spcPts val="0"/>
              </a:spcBef>
              <a:buSzPct val="100000"/>
              <a:buNone/>
            </a:pPr>
            <a:endParaRPr lang="en-US" sz="1800" dirty="0">
              <a:latin typeface="Cambria" panose="02040503050406030204" pitchFamily="18" charset="0"/>
              <a:ea typeface="Cambria" panose="02040503050406030204" pitchFamily="18" charset="0"/>
            </a:endParaRPr>
          </a:p>
          <a:p>
            <a:pPr marL="152400" indent="0" algn="just">
              <a:lnSpc>
                <a:spcPct val="200000"/>
              </a:lnSpc>
              <a:spcBef>
                <a:spcPts val="0"/>
              </a:spcBef>
              <a:buSzPct val="100000"/>
              <a:buNone/>
            </a:pPr>
            <a:endParaRPr lang="en-US" sz="1800" dirty="0">
              <a:latin typeface="Cambria" panose="02040503050406030204" pitchFamily="18" charset="0"/>
              <a:ea typeface="Cambria" panose="02040503050406030204" pitchFamily="18" charset="0"/>
            </a:endParaRPr>
          </a:p>
          <a:p>
            <a:pPr marL="152400" indent="0" algn="just">
              <a:lnSpc>
                <a:spcPct val="200000"/>
              </a:lnSpc>
              <a:spcBef>
                <a:spcPts val="0"/>
              </a:spcBef>
              <a:buSzPct val="100000"/>
              <a:buNone/>
            </a:pPr>
            <a:endParaRPr lang="en-US" sz="1800" dirty="0">
              <a:latin typeface="Cambria" panose="02040503050406030204" pitchFamily="18" charset="0"/>
              <a:ea typeface="Cambria" panose="02040503050406030204" pitchFamily="18" charset="0"/>
            </a:endParaRPr>
          </a:p>
          <a:p>
            <a:pPr marL="152400" indent="0" algn="just">
              <a:lnSpc>
                <a:spcPct val="200000"/>
              </a:lnSpc>
              <a:spcBef>
                <a:spcPts val="0"/>
              </a:spcBef>
              <a:buSzPct val="100000"/>
              <a:buNone/>
            </a:pPr>
            <a:endParaRPr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dirty="0"/>
              <a:t>Literature Survey</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5266678"/>
          </a:xfrm>
          <a:prstGeom prst="rect">
            <a:avLst/>
          </a:prstGeom>
          <a:noFill/>
          <a:ln>
            <a:noFill/>
          </a:ln>
        </p:spPr>
        <p:txBody>
          <a:bodyPr spcFirstLastPara="1" wrap="square" lIns="91425" tIns="45700" rIns="91425" bIns="45700" anchor="t" anchorCtr="0">
            <a:normAutofit fontScale="77500" lnSpcReduction="20000"/>
          </a:bodyPr>
          <a:lstStyle/>
          <a:p>
            <a:pPr marL="76200" indent="0">
              <a:buNone/>
            </a:pPr>
            <a:r>
              <a:rPr lang="en-US" b="1" dirty="0"/>
              <a:t>1. Web-Based Public Transport Tracking Systems :</a:t>
            </a:r>
          </a:p>
          <a:p>
            <a:pPr marL="76200" indent="0">
              <a:buNone/>
            </a:pPr>
            <a:endParaRPr lang="en-US" sz="1800" b="1" dirty="0"/>
          </a:p>
          <a:p>
            <a:r>
              <a:rPr lang="en-US" sz="1800" dirty="0"/>
              <a:t>Several studies have proposed </a:t>
            </a:r>
            <a:r>
              <a:rPr lang="en-US" sz="1800" b="1" dirty="0"/>
              <a:t>web-based tracking platforms</a:t>
            </a:r>
            <a:r>
              <a:rPr lang="en-US" sz="1800" dirty="0"/>
              <a:t> where vehicle status is updated and processed on a central server.</a:t>
            </a:r>
          </a:p>
          <a:p>
            <a:pPr>
              <a:buFont typeface="Arial" panose="020B0604020202020204" pitchFamily="34" charset="0"/>
              <a:buChar char="•"/>
            </a:pPr>
            <a:r>
              <a:rPr lang="en-US" sz="1800" b="1" dirty="0"/>
              <a:t>Kumar et al. (2019)</a:t>
            </a:r>
            <a:r>
              <a:rPr lang="en-US" sz="1800" dirty="0"/>
              <a:t> developed a browser-based bus tracking system using manual stop updates transmitted to a backend database.</a:t>
            </a:r>
          </a:p>
          <a:p>
            <a:pPr marL="742950" lvl="1" indent="-285750">
              <a:buFont typeface="Arial" panose="020B0604020202020204" pitchFamily="34" charset="0"/>
              <a:buChar char="•"/>
            </a:pPr>
            <a:r>
              <a:rPr lang="en-US" sz="1800" dirty="0"/>
              <a:t>Front-end: Web dashboard for passengers</a:t>
            </a:r>
          </a:p>
          <a:p>
            <a:pPr marL="742950" lvl="1" indent="-285750">
              <a:buFont typeface="Arial" panose="020B0604020202020204" pitchFamily="34" charset="0"/>
              <a:buChar char="•"/>
            </a:pPr>
            <a:r>
              <a:rPr lang="en-US" sz="1800" dirty="0"/>
              <a:t>Back-end: Server-side processing and data storage</a:t>
            </a:r>
          </a:p>
          <a:p>
            <a:pPr marL="742950" lvl="1" indent="-285750">
              <a:buFont typeface="Arial" panose="020B0604020202020204" pitchFamily="34" charset="0"/>
              <a:buChar char="•"/>
            </a:pPr>
            <a:r>
              <a:rPr lang="en-US" sz="1800" dirty="0"/>
              <a:t>Limitation: Accuracy depends on update frequency</a:t>
            </a:r>
          </a:p>
          <a:p>
            <a:r>
              <a:rPr lang="en-US" sz="1800" dirty="0"/>
              <a:t>These systems reduce deployment cost and allow easy access across devices.</a:t>
            </a:r>
          </a:p>
          <a:p>
            <a:pPr marL="76200" indent="0">
              <a:buNone/>
            </a:pPr>
            <a:endParaRPr lang="en-IN" sz="2000" dirty="0"/>
          </a:p>
          <a:p>
            <a:pPr marL="76200" indent="0">
              <a:buNone/>
            </a:pPr>
            <a:r>
              <a:rPr lang="en-US" b="1" dirty="0"/>
              <a:t>2. Mobile Application–Driven Tracking :</a:t>
            </a:r>
          </a:p>
          <a:p>
            <a:pPr marL="76200" indent="0">
              <a:buNone/>
            </a:pPr>
            <a:endParaRPr lang="en-US" sz="2000" b="1" dirty="0"/>
          </a:p>
          <a:p>
            <a:r>
              <a:rPr lang="en-US" sz="2000" dirty="0"/>
              <a:t>Mobile applications are increasingly used as the </a:t>
            </a:r>
            <a:r>
              <a:rPr lang="en-US" sz="2000" b="1" dirty="0"/>
              <a:t>front-end interface</a:t>
            </a:r>
            <a:r>
              <a:rPr lang="en-US" sz="2000" dirty="0"/>
              <a:t> for real-time tracking.</a:t>
            </a:r>
          </a:p>
          <a:p>
            <a:pPr>
              <a:buFont typeface="Arial" panose="020B0604020202020204" pitchFamily="34" charset="0"/>
              <a:buChar char="•"/>
            </a:pPr>
            <a:r>
              <a:rPr lang="en-US" sz="2000" b="1" dirty="0"/>
              <a:t>Sharma &amp; Verma (2020)</a:t>
            </a:r>
            <a:r>
              <a:rPr lang="en-US" sz="2000" dirty="0"/>
              <a:t> proposed a mobile app where drivers update trip progress, and passengers view vehicle location and ETA.</a:t>
            </a:r>
          </a:p>
          <a:p>
            <a:pPr marL="742950" lvl="1" indent="-285750">
              <a:buFont typeface="Arial" panose="020B0604020202020204" pitchFamily="34" charset="0"/>
              <a:buChar char="•"/>
            </a:pPr>
            <a:r>
              <a:rPr lang="en-US" dirty="0"/>
              <a:t>Front-end: Android app for users and operators</a:t>
            </a:r>
          </a:p>
          <a:p>
            <a:pPr marL="742950" lvl="1" indent="-285750">
              <a:buFont typeface="Arial" panose="020B0604020202020204" pitchFamily="34" charset="0"/>
              <a:buChar char="•"/>
            </a:pPr>
            <a:r>
              <a:rPr lang="en-US" dirty="0"/>
              <a:t>Back-end: Cloud server managing routes and time estimation</a:t>
            </a:r>
          </a:p>
          <a:p>
            <a:pPr marL="742950" lvl="1" indent="-285750">
              <a:buFont typeface="Arial" panose="020B0604020202020204" pitchFamily="34" charset="0"/>
              <a:buChar char="•"/>
            </a:pPr>
            <a:r>
              <a:rPr lang="en-US" dirty="0"/>
              <a:t>Advantage: No additional hardware required</a:t>
            </a:r>
          </a:p>
          <a:p>
            <a:r>
              <a:rPr lang="en-US" sz="2000" dirty="0"/>
              <a:t>However, user dependency remains a challenge.</a:t>
            </a:r>
          </a:p>
          <a:p>
            <a:pPr marL="152400" indent="0" algn="just">
              <a:lnSpc>
                <a:spcPct val="200000"/>
              </a:lnSpc>
              <a:spcBef>
                <a:spcPts val="0"/>
              </a:spcBef>
              <a:buSzPct val="100000"/>
              <a:buNone/>
            </a:pPr>
            <a:endParaRPr lang="en-US" sz="2000" dirty="0">
              <a:latin typeface="Cambria" panose="02040503050406030204" pitchFamily="18" charset="0"/>
              <a:ea typeface="Cambria" panose="02040503050406030204" pitchFamily="18" charset="0"/>
            </a:endParaRPr>
          </a:p>
          <a:p>
            <a:pPr marL="152400" indent="0" algn="just">
              <a:lnSpc>
                <a:spcPct val="200000"/>
              </a:lnSpc>
              <a:spcBef>
                <a:spcPts val="0"/>
              </a:spcBef>
              <a:buSzPct val="100000"/>
              <a:buNone/>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66F3CD32-92A9-8A97-7D94-D15808F24D04}"/>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81C8BE16-F7FC-3CD6-E80E-8502CEA960B9}"/>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dirty="0"/>
              <a:t>Literature Survey</a:t>
            </a:r>
            <a:endParaRPr lang="en-US" dirty="0">
              <a:latin typeface="Cambria" panose="02040503050406030204" pitchFamily="18" charset="0"/>
              <a:ea typeface="Cambria" panose="02040503050406030204" pitchFamily="18" charset="0"/>
            </a:endParaRPr>
          </a:p>
        </p:txBody>
      </p:sp>
      <p:sp>
        <p:nvSpPr>
          <p:cNvPr id="115" name="Google Shape;115;p17">
            <a:extLst>
              <a:ext uri="{FF2B5EF4-FFF2-40B4-BE49-F238E27FC236}">
                <a16:creationId xmlns:a16="http://schemas.microsoft.com/office/drawing/2014/main" id="{F59FB118-4F5A-CF55-12E4-198AD70342AC}"/>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D14D3208-CC0B-2D3F-DF2B-89CAC9266C1B}"/>
              </a:ext>
            </a:extLst>
          </p:cNvPr>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D015571E-495F-F616-4E26-1C192D0C6EC2}"/>
              </a:ext>
            </a:extLst>
          </p:cNvPr>
          <p:cNvSpPr txBox="1">
            <a:spLocks/>
          </p:cNvSpPr>
          <p:nvPr/>
        </p:nvSpPr>
        <p:spPr>
          <a:xfrm>
            <a:off x="812800" y="1065319"/>
            <a:ext cx="10668000" cy="384403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3" name="Rectangle 2">
            <a:extLst>
              <a:ext uri="{FF2B5EF4-FFF2-40B4-BE49-F238E27FC236}">
                <a16:creationId xmlns:a16="http://schemas.microsoft.com/office/drawing/2014/main" id="{4F1E9115-2597-F6F1-9253-2DC6CB861593}"/>
              </a:ext>
            </a:extLst>
          </p:cNvPr>
          <p:cNvSpPr>
            <a:spLocks noChangeArrowheads="1"/>
          </p:cNvSpPr>
          <p:nvPr/>
        </p:nvSpPr>
        <p:spPr bwMode="auto">
          <a:xfrm>
            <a:off x="812800" y="982179"/>
            <a:ext cx="1056640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b="1" dirty="0"/>
              <a:t>3. Backend-Centric Architecture for Tracking :</a:t>
            </a:r>
          </a:p>
          <a:p>
            <a:endParaRPr lang="en-US" sz="1600" b="1" dirty="0"/>
          </a:p>
          <a:p>
            <a:r>
              <a:rPr lang="en-US" sz="1600" dirty="0"/>
              <a:t>Modern systems emphasize a </a:t>
            </a:r>
            <a:r>
              <a:rPr lang="en-US" sz="1600" b="1" dirty="0"/>
              <a:t>backend-centric approach</a:t>
            </a:r>
            <a:r>
              <a:rPr lang="en-US" sz="1600" dirty="0"/>
              <a:t>, where all computations occur on the server.</a:t>
            </a:r>
          </a:p>
          <a:p>
            <a:pPr>
              <a:buFont typeface="Arial" panose="020B0604020202020204" pitchFamily="34" charset="0"/>
              <a:buChar char="•"/>
            </a:pPr>
            <a:r>
              <a:rPr lang="en-US" sz="1600" b="1" dirty="0"/>
              <a:t>Reddy et al. (2021)</a:t>
            </a:r>
            <a:r>
              <a:rPr lang="en-US" sz="1600" dirty="0"/>
              <a:t> designed a centralized backend that:</a:t>
            </a:r>
          </a:p>
          <a:p>
            <a:pPr marL="742950" lvl="1" indent="-285750">
              <a:buFont typeface="Arial" panose="020B0604020202020204" pitchFamily="34" charset="0"/>
              <a:buChar char="•"/>
            </a:pPr>
            <a:r>
              <a:rPr lang="en-US" sz="1600" dirty="0"/>
              <a:t>Stores route data and schedules</a:t>
            </a:r>
          </a:p>
          <a:p>
            <a:pPr marL="742950" lvl="1" indent="-285750">
              <a:buFont typeface="Arial" panose="020B0604020202020204" pitchFamily="34" charset="0"/>
              <a:buChar char="•"/>
            </a:pPr>
            <a:r>
              <a:rPr lang="en-US" sz="1600" dirty="0"/>
              <a:t>Calculates estimated arrival times using timestamps</a:t>
            </a:r>
          </a:p>
          <a:p>
            <a:pPr marL="742950" lvl="1" indent="-285750">
              <a:buFont typeface="Arial" panose="020B0604020202020204" pitchFamily="34" charset="0"/>
              <a:buChar char="•"/>
            </a:pPr>
            <a:r>
              <a:rPr lang="en-US" sz="1600" dirty="0"/>
              <a:t>Pushes updates to front-end interfaces in real time</a:t>
            </a:r>
          </a:p>
          <a:p>
            <a:r>
              <a:rPr lang="en-US" sz="1600" dirty="0"/>
              <a:t>This approach ensures scalability and easier maintenance.</a:t>
            </a:r>
          </a:p>
          <a:p>
            <a:endParaRPr lang="en-US" sz="1800" dirty="0"/>
          </a:p>
          <a:p>
            <a:r>
              <a:rPr lang="en-US" sz="1800" b="1" dirty="0"/>
              <a:t>4 .Client–Server Model in Public Transport Systems :</a:t>
            </a:r>
          </a:p>
          <a:p>
            <a:endParaRPr lang="en-US" sz="1800" b="1" dirty="0"/>
          </a:p>
          <a:p>
            <a:r>
              <a:rPr lang="en-US" sz="1800" dirty="0"/>
              <a:t>Many researchers adopt a </a:t>
            </a:r>
            <a:r>
              <a:rPr lang="en-US" sz="1800" b="1" dirty="0"/>
              <a:t>client–server model</a:t>
            </a:r>
            <a:r>
              <a:rPr lang="en-US" sz="1800" dirty="0"/>
              <a:t>, where:</a:t>
            </a:r>
          </a:p>
          <a:p>
            <a:pPr>
              <a:buFont typeface="Arial" panose="020B0604020202020204" pitchFamily="34" charset="0"/>
              <a:buChar char="•"/>
            </a:pPr>
            <a:r>
              <a:rPr lang="en-US" sz="1800" b="1" dirty="0"/>
              <a:t>Front-end (client)</a:t>
            </a:r>
            <a:r>
              <a:rPr lang="en-US" sz="1800" dirty="0"/>
              <a:t>: Web/mobile UI for passengers</a:t>
            </a:r>
          </a:p>
          <a:p>
            <a:pPr>
              <a:buFont typeface="Arial" panose="020B0604020202020204" pitchFamily="34" charset="0"/>
              <a:buChar char="•"/>
            </a:pPr>
            <a:r>
              <a:rPr lang="en-US" sz="1800" b="1" dirty="0"/>
              <a:t>Back-end (server)</a:t>
            </a:r>
            <a:r>
              <a:rPr lang="en-US" sz="1800" dirty="0"/>
              <a:t>: Handles logic, data processing, and notifications</a:t>
            </a:r>
          </a:p>
          <a:p>
            <a:r>
              <a:rPr lang="en-US" sz="1800" b="1" dirty="0"/>
              <a:t>Patel et al. (2022)</a:t>
            </a:r>
            <a:r>
              <a:rPr lang="en-US" sz="1800" dirty="0"/>
              <a:t> implemented a REST API–based backend that connects multiple front-end clients simultaneously, improving system reliability.</a:t>
            </a:r>
          </a:p>
          <a:p>
            <a:endParaRPr lang="en-US" sz="20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05284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dirty="0"/>
              <a:t>Objectives</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837944"/>
            <a:ext cx="10668000" cy="441045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3" name="Rectangle 2">
            <a:extLst>
              <a:ext uri="{FF2B5EF4-FFF2-40B4-BE49-F238E27FC236}">
                <a16:creationId xmlns:a16="http://schemas.microsoft.com/office/drawing/2014/main" id="{B6ECE6A7-76D4-4309-908D-470EF673BFA8}"/>
              </a:ext>
            </a:extLst>
          </p:cNvPr>
          <p:cNvSpPr>
            <a:spLocks noChangeArrowheads="1"/>
          </p:cNvSpPr>
          <p:nvPr/>
        </p:nvSpPr>
        <p:spPr bwMode="auto">
          <a:xfrm rot="10800000" flipV="1">
            <a:off x="711199" y="1457082"/>
            <a:ext cx="11318042"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design and develop a </a:t>
            </a:r>
            <a:r>
              <a:rPr kumimoji="0" lang="en-US" altLang="en-US" sz="1800" b="1" i="0" u="none" strike="noStrike" cap="none" normalizeH="0" baseline="0" dirty="0">
                <a:ln>
                  <a:noFill/>
                </a:ln>
                <a:solidFill>
                  <a:schemeClr val="tx1"/>
                </a:solidFill>
                <a:effectLst/>
                <a:latin typeface="Arial" panose="020B0604020202020204" pitchFamily="34" charset="0"/>
              </a:rPr>
              <a:t>real-time public transport tracking system</a:t>
            </a:r>
            <a:r>
              <a:rPr kumimoji="0" lang="en-US" altLang="en-US" sz="1800" b="0" i="0" u="none" strike="noStrike" cap="none" normalizeH="0" baseline="0" dirty="0">
                <a:ln>
                  <a:noFill/>
                </a:ln>
                <a:solidFill>
                  <a:schemeClr val="tx1"/>
                </a:solidFill>
                <a:effectLst/>
                <a:latin typeface="Arial" panose="020B0604020202020204" pitchFamily="34" charset="0"/>
              </a:rPr>
              <a:t> suitable for small cities using a front-end and back-end architecture.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provide passengers with </a:t>
            </a:r>
            <a:r>
              <a:rPr kumimoji="0" lang="en-US" altLang="en-US" sz="1800" b="1" i="0" u="none" strike="noStrike" cap="none" normalizeH="0" baseline="0" dirty="0">
                <a:ln>
                  <a:noFill/>
                </a:ln>
                <a:solidFill>
                  <a:schemeClr val="tx1"/>
                </a:solidFill>
                <a:effectLst/>
                <a:latin typeface="Arial" panose="020B0604020202020204" pitchFamily="34" charset="0"/>
              </a:rPr>
              <a:t>live vehicle status, route information, and estimated arrival times</a:t>
            </a:r>
            <a:r>
              <a:rPr kumimoji="0" lang="en-US" altLang="en-US" sz="1800" b="0" i="0" u="none" strike="noStrike" cap="none" normalizeH="0" baseline="0" dirty="0">
                <a:ln>
                  <a:noFill/>
                </a:ln>
                <a:solidFill>
                  <a:schemeClr val="tx1"/>
                </a:solidFill>
                <a:effectLst/>
                <a:latin typeface="Arial" panose="020B0604020202020204" pitchFamily="34" charset="0"/>
              </a:rPr>
              <a:t> through a user-friendly web or mobile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eliminate the dependency on </a:t>
            </a:r>
            <a:r>
              <a:rPr kumimoji="0" lang="en-US" altLang="en-US" sz="1800" b="1" i="0" u="none" strike="noStrike" cap="none" normalizeH="0" baseline="0" dirty="0">
                <a:ln>
                  <a:noFill/>
                </a:ln>
                <a:solidFill>
                  <a:schemeClr val="tx1"/>
                </a:solidFill>
                <a:effectLst/>
                <a:latin typeface="Arial" panose="020B0604020202020204" pitchFamily="34" charset="0"/>
              </a:rPr>
              <a:t>dedicated GPS hardware</a:t>
            </a:r>
            <a:r>
              <a:rPr kumimoji="0" lang="en-US" altLang="en-US" sz="1800" b="0" i="0" u="none" strike="noStrike" cap="none" normalizeH="0" baseline="0" dirty="0">
                <a:ln>
                  <a:noFill/>
                </a:ln>
                <a:solidFill>
                  <a:schemeClr val="tx1"/>
                </a:solidFill>
                <a:effectLst/>
                <a:latin typeface="Arial" panose="020B0604020202020204" pitchFamily="34" charset="0"/>
              </a:rPr>
              <a:t>, thereby reducing system cost and maintenance complexity.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implement a </a:t>
            </a:r>
            <a:r>
              <a:rPr kumimoji="0" lang="en-US" altLang="en-US" sz="1800" b="1" i="0" u="none" strike="noStrike" cap="none" normalizeH="0" baseline="0" dirty="0">
                <a:ln>
                  <a:noFill/>
                </a:ln>
                <a:solidFill>
                  <a:schemeClr val="tx1"/>
                </a:solidFill>
                <a:effectLst/>
                <a:latin typeface="Arial" panose="020B0604020202020204" pitchFamily="34" charset="0"/>
              </a:rPr>
              <a:t>centralized backend server</a:t>
            </a:r>
            <a:r>
              <a:rPr kumimoji="0" lang="en-US" altLang="en-US" sz="1800" b="0" i="0" u="none" strike="noStrike" cap="none" normalizeH="0" baseline="0" dirty="0">
                <a:ln>
                  <a:noFill/>
                </a:ln>
                <a:solidFill>
                  <a:schemeClr val="tx1"/>
                </a:solidFill>
                <a:effectLst/>
                <a:latin typeface="Arial" panose="020B0604020202020204" pitchFamily="34" charset="0"/>
              </a:rPr>
              <a:t> for managing routes, schedules, vehicle updates, and data 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enable transport authorities or operators to </a:t>
            </a:r>
            <a:r>
              <a:rPr kumimoji="0" lang="en-US" altLang="en-US" sz="1800" b="1" i="0" u="none" strike="noStrike" cap="none" normalizeH="0" baseline="0" dirty="0">
                <a:ln>
                  <a:noFill/>
                </a:ln>
                <a:solidFill>
                  <a:schemeClr val="tx1"/>
                </a:solidFill>
                <a:effectLst/>
                <a:latin typeface="Arial" panose="020B0604020202020204" pitchFamily="34" charset="0"/>
              </a:rPr>
              <a:t>monitor vehicle movement and service performance</a:t>
            </a:r>
            <a:r>
              <a:rPr kumimoji="0" lang="en-US" altLang="en-US" sz="1800" b="0" i="0" u="none" strike="noStrike" cap="none" normalizeH="0" baseline="0" dirty="0">
                <a:ln>
                  <a:noFill/>
                </a:ln>
                <a:solidFill>
                  <a:schemeClr val="tx1"/>
                </a:solidFill>
                <a:effectLst/>
                <a:latin typeface="Arial" panose="020B0604020202020204" pitchFamily="34" charset="0"/>
              </a:rPr>
              <a:t> in real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improve </a:t>
            </a:r>
            <a:r>
              <a:rPr kumimoji="0" lang="en-US" altLang="en-US" sz="1800" b="1" i="0" u="none" strike="noStrike" cap="none" normalizeH="0" baseline="0" dirty="0">
                <a:ln>
                  <a:noFill/>
                </a:ln>
                <a:solidFill>
                  <a:schemeClr val="tx1"/>
                </a:solidFill>
                <a:effectLst/>
                <a:latin typeface="Arial" panose="020B0604020202020204" pitchFamily="34" charset="0"/>
              </a:rPr>
              <a:t>transparency and reliability</a:t>
            </a:r>
            <a:r>
              <a:rPr kumimoji="0" lang="en-US" altLang="en-US" sz="1800" b="0" i="0" u="none" strike="noStrike" cap="none" normalizeH="0" baseline="0" dirty="0">
                <a:ln>
                  <a:noFill/>
                </a:ln>
                <a:solidFill>
                  <a:schemeClr val="tx1"/>
                </a:solidFill>
                <a:effectLst/>
                <a:latin typeface="Arial" panose="020B0604020202020204" pitchFamily="34" charset="0"/>
              </a:rPr>
              <a:t> of public transport services, reducing passenger waiting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ensure the system is </a:t>
            </a:r>
            <a:r>
              <a:rPr kumimoji="0" lang="en-US" altLang="en-US" sz="1800" b="1" i="0" u="none" strike="noStrike" cap="none" normalizeH="0" baseline="0" dirty="0">
                <a:ln>
                  <a:noFill/>
                </a:ln>
                <a:solidFill>
                  <a:schemeClr val="tx1"/>
                </a:solidFill>
                <a:effectLst/>
                <a:latin typeface="Arial" panose="020B0604020202020204" pitchFamily="34" charset="0"/>
              </a:rPr>
              <a:t>scalable, low-cost, and easy to deploy</a:t>
            </a:r>
            <a:r>
              <a:rPr kumimoji="0" lang="en-US" altLang="en-US" sz="1800" b="0" i="0" u="none" strike="noStrike" cap="none" normalizeH="0" baseline="0" dirty="0">
                <a:ln>
                  <a:noFill/>
                </a:ln>
                <a:solidFill>
                  <a:schemeClr val="tx1"/>
                </a:solidFill>
                <a:effectLst/>
                <a:latin typeface="Arial" panose="020B0604020202020204" pitchFamily="34" charset="0"/>
              </a:rPr>
              <a:t>, making it suitable for resource-constrained small cities.</a:t>
            </a:r>
          </a:p>
        </p:txBody>
      </p:sp>
    </p:spTree>
    <p:extLst>
      <p:ext uri="{BB962C8B-B14F-4D97-AF65-F5344CB8AC3E}">
        <p14:creationId xmlns:p14="http://schemas.microsoft.com/office/powerpoint/2010/main" val="181887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889AF-E0DC-419F-B682-E3F27A2608C7}"/>
              </a:ext>
            </a:extLst>
          </p:cNvPr>
          <p:cNvSpPr>
            <a:spLocks noGrp="1"/>
          </p:cNvSpPr>
          <p:nvPr>
            <p:ph type="title"/>
          </p:nvPr>
        </p:nvSpPr>
        <p:spPr>
          <a:xfrm>
            <a:off x="812800" y="716418"/>
            <a:ext cx="10668000" cy="45719"/>
          </a:xfrm>
        </p:spPr>
        <p:txBody>
          <a:bodyPr/>
          <a:lstStyle/>
          <a:p>
            <a:r>
              <a:rPr lang="en-US" dirty="0">
                <a:latin typeface="Cambria" panose="02040503050406030204" pitchFamily="18" charset="0"/>
                <a:ea typeface="Cambria" panose="02040503050406030204" pitchFamily="18" charset="0"/>
              </a:rPr>
              <a:t>Existing methods and drawbacks</a:t>
            </a:r>
            <a:br>
              <a:rPr lang="en-US" dirty="0">
                <a:latin typeface="Cambria" panose="02040503050406030204" pitchFamily="18" charset="0"/>
                <a:ea typeface="Cambria" panose="02040503050406030204" pitchFamily="18" charset="0"/>
              </a:rPr>
            </a:br>
            <a:endParaRPr lang="en-IN" dirty="0"/>
          </a:p>
        </p:txBody>
      </p:sp>
      <p:sp>
        <p:nvSpPr>
          <p:cNvPr id="3" name="Text Placeholder 2">
            <a:extLst>
              <a:ext uri="{FF2B5EF4-FFF2-40B4-BE49-F238E27FC236}">
                <a16:creationId xmlns:a16="http://schemas.microsoft.com/office/drawing/2014/main" id="{1B40B02A-FF49-4E9F-8B2D-2E0919E76B4C}"/>
              </a:ext>
            </a:extLst>
          </p:cNvPr>
          <p:cNvSpPr>
            <a:spLocks noGrp="1"/>
          </p:cNvSpPr>
          <p:nvPr>
            <p:ph type="body" idx="1"/>
          </p:nvPr>
        </p:nvSpPr>
        <p:spPr/>
        <p:txBody>
          <a:bodyPr/>
          <a:lstStyle/>
          <a:p>
            <a:pPr marL="533400" indent="-457200">
              <a:buAutoNum type="arabicPeriod"/>
            </a:pPr>
            <a:r>
              <a:rPr lang="en-US" b="1" dirty="0"/>
              <a:t>Manual Timetable-Based Systems :</a:t>
            </a:r>
          </a:p>
          <a:p>
            <a:pPr marL="76200" indent="0">
              <a:buNone/>
            </a:pPr>
            <a:endParaRPr lang="en-US" b="1" dirty="0"/>
          </a:p>
          <a:p>
            <a:r>
              <a:rPr lang="en-US" b="1" dirty="0"/>
              <a:t>Existing Method:</a:t>
            </a:r>
            <a:br>
              <a:rPr lang="en-US" dirty="0"/>
            </a:br>
            <a:r>
              <a:rPr lang="en-US" dirty="0"/>
              <a:t>Public transport in many small cities still relies on fixed timetables displayed at bus stops or published online. These schedules do not change according to real-time conditions such as traffic congestion or delays.</a:t>
            </a:r>
          </a:p>
          <a:p>
            <a:r>
              <a:rPr lang="en-US" b="1" dirty="0"/>
              <a:t>Drawbacks:</a:t>
            </a:r>
            <a:endParaRPr lang="en-US" dirty="0"/>
          </a:p>
          <a:p>
            <a:pPr>
              <a:buFont typeface="Arial" panose="020B0604020202020204" pitchFamily="34" charset="0"/>
              <a:buChar char="•"/>
            </a:pPr>
            <a:r>
              <a:rPr lang="en-US" dirty="0"/>
              <a:t>No real-time updates for passengers</a:t>
            </a:r>
          </a:p>
          <a:p>
            <a:pPr>
              <a:buFont typeface="Arial" panose="020B0604020202020204" pitchFamily="34" charset="0"/>
              <a:buChar char="•"/>
            </a:pPr>
            <a:r>
              <a:rPr lang="en-US" dirty="0"/>
              <a:t>Inaccurate arrival times during delays</a:t>
            </a:r>
          </a:p>
          <a:p>
            <a:pPr>
              <a:buFont typeface="Arial" panose="020B0604020202020204" pitchFamily="34" charset="0"/>
              <a:buChar char="•"/>
            </a:pPr>
            <a:r>
              <a:rPr lang="en-US" dirty="0"/>
              <a:t>Increased waiting time and passenger dissatisfaction</a:t>
            </a:r>
          </a:p>
          <a:p>
            <a:endParaRPr lang="en-IN" dirty="0"/>
          </a:p>
        </p:txBody>
      </p:sp>
    </p:spTree>
    <p:extLst>
      <p:ext uri="{BB962C8B-B14F-4D97-AF65-F5344CB8AC3E}">
        <p14:creationId xmlns:p14="http://schemas.microsoft.com/office/powerpoint/2010/main" val="1516090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9B77A-BB1E-44CF-8B70-7E2699F20D9B}"/>
              </a:ext>
            </a:extLst>
          </p:cNvPr>
          <p:cNvSpPr>
            <a:spLocks noGrp="1"/>
          </p:cNvSpPr>
          <p:nvPr>
            <p:ph type="title"/>
          </p:nvPr>
        </p:nvSpPr>
        <p:spPr>
          <a:xfrm>
            <a:off x="812800" y="692458"/>
            <a:ext cx="10668000" cy="69680"/>
          </a:xfrm>
        </p:spPr>
        <p:txBody>
          <a:bodyPr/>
          <a:lstStyle/>
          <a:p>
            <a:r>
              <a:rPr lang="en-US" dirty="0">
                <a:latin typeface="Cambria" panose="02040503050406030204" pitchFamily="18" charset="0"/>
                <a:ea typeface="Cambria" panose="02040503050406030204" pitchFamily="18" charset="0"/>
              </a:rPr>
              <a:t>Existing methods and drawbacks</a:t>
            </a:r>
            <a:br>
              <a:rPr lang="en-US" dirty="0">
                <a:latin typeface="Cambria" panose="02040503050406030204" pitchFamily="18" charset="0"/>
                <a:ea typeface="Cambria" panose="02040503050406030204" pitchFamily="18" charset="0"/>
              </a:rPr>
            </a:br>
            <a:endParaRPr lang="en-IN" dirty="0"/>
          </a:p>
        </p:txBody>
      </p:sp>
      <p:sp>
        <p:nvSpPr>
          <p:cNvPr id="3" name="Text Placeholder 2">
            <a:extLst>
              <a:ext uri="{FF2B5EF4-FFF2-40B4-BE49-F238E27FC236}">
                <a16:creationId xmlns:a16="http://schemas.microsoft.com/office/drawing/2014/main" id="{9A7ADBEA-B253-419F-87D9-6A6B4F97924A}"/>
              </a:ext>
            </a:extLst>
          </p:cNvPr>
          <p:cNvSpPr>
            <a:spLocks noGrp="1"/>
          </p:cNvSpPr>
          <p:nvPr>
            <p:ph type="body" idx="1"/>
          </p:nvPr>
        </p:nvSpPr>
        <p:spPr/>
        <p:txBody>
          <a:bodyPr/>
          <a:lstStyle/>
          <a:p>
            <a:pPr marL="76200" indent="0">
              <a:buNone/>
            </a:pPr>
            <a:r>
              <a:rPr lang="en-US" b="1" dirty="0"/>
              <a:t>2. GPS-Based Vehicle Tracking Systems :</a:t>
            </a:r>
          </a:p>
          <a:p>
            <a:pPr marL="76200" indent="0">
              <a:buNone/>
            </a:pPr>
            <a:endParaRPr lang="en-US" b="1" dirty="0"/>
          </a:p>
          <a:p>
            <a:r>
              <a:rPr lang="en-US" b="1" dirty="0"/>
              <a:t>Existing Method:</a:t>
            </a:r>
            <a:br>
              <a:rPr lang="en-US" dirty="0"/>
            </a:br>
            <a:r>
              <a:rPr lang="en-US" dirty="0"/>
              <a:t>Most modern tracking systems use GPS devices installed in vehicles to transmit real-time location data to a central server.</a:t>
            </a:r>
          </a:p>
          <a:p>
            <a:r>
              <a:rPr lang="en-US" b="1" dirty="0"/>
              <a:t>Drawbacks:</a:t>
            </a:r>
            <a:endParaRPr lang="en-US" dirty="0"/>
          </a:p>
          <a:p>
            <a:pPr>
              <a:buFont typeface="Arial" panose="020B0604020202020204" pitchFamily="34" charset="0"/>
              <a:buChar char="•"/>
            </a:pPr>
            <a:r>
              <a:rPr lang="en-US" dirty="0"/>
              <a:t>High cost of GPS hardware and installation</a:t>
            </a:r>
          </a:p>
          <a:p>
            <a:pPr>
              <a:buFont typeface="Arial" panose="020B0604020202020204" pitchFamily="34" charset="0"/>
              <a:buChar char="•"/>
            </a:pPr>
            <a:r>
              <a:rPr lang="en-US" dirty="0"/>
              <a:t>Maintenance and repair complexity</a:t>
            </a:r>
          </a:p>
          <a:p>
            <a:pPr>
              <a:buFont typeface="Arial" panose="020B0604020202020204" pitchFamily="34" charset="0"/>
              <a:buChar char="•"/>
            </a:pPr>
            <a:r>
              <a:rPr lang="en-US" dirty="0"/>
              <a:t>Poor performance in areas with weak network coverage</a:t>
            </a:r>
          </a:p>
          <a:p>
            <a:pPr>
              <a:buFont typeface="Arial" panose="020B0604020202020204" pitchFamily="34" charset="0"/>
              <a:buChar char="•"/>
            </a:pPr>
            <a:r>
              <a:rPr lang="en-US" dirty="0"/>
              <a:t>Not suitable for budget-constrained small cities</a:t>
            </a:r>
          </a:p>
          <a:p>
            <a:endParaRPr lang="en-IN" dirty="0"/>
          </a:p>
        </p:txBody>
      </p:sp>
    </p:spTree>
    <p:extLst>
      <p:ext uri="{BB962C8B-B14F-4D97-AF65-F5344CB8AC3E}">
        <p14:creationId xmlns:p14="http://schemas.microsoft.com/office/powerpoint/2010/main" val="3221708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5DABF-45B7-4338-AF27-C6A1B59567AA}"/>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Existing methods and drawbacks</a:t>
            </a:r>
            <a:endParaRPr lang="en-IN" dirty="0"/>
          </a:p>
        </p:txBody>
      </p:sp>
      <p:sp>
        <p:nvSpPr>
          <p:cNvPr id="3" name="Text Placeholder 2">
            <a:extLst>
              <a:ext uri="{FF2B5EF4-FFF2-40B4-BE49-F238E27FC236}">
                <a16:creationId xmlns:a16="http://schemas.microsoft.com/office/drawing/2014/main" id="{E40767D2-D608-4EFE-88D2-102426B1F633}"/>
              </a:ext>
            </a:extLst>
          </p:cNvPr>
          <p:cNvSpPr>
            <a:spLocks noGrp="1"/>
          </p:cNvSpPr>
          <p:nvPr>
            <p:ph type="body" idx="1"/>
          </p:nvPr>
        </p:nvSpPr>
        <p:spPr/>
        <p:txBody>
          <a:bodyPr/>
          <a:lstStyle/>
          <a:p>
            <a:pPr marL="76200" indent="0">
              <a:buNone/>
            </a:pPr>
            <a:r>
              <a:rPr lang="en-US" b="1" dirty="0"/>
              <a:t>3. Mobile App Systems with GPS Dependency :</a:t>
            </a:r>
          </a:p>
          <a:p>
            <a:pPr marL="76200" indent="0">
              <a:buNone/>
            </a:pPr>
            <a:endParaRPr lang="en-US" b="1" dirty="0"/>
          </a:p>
          <a:p>
            <a:r>
              <a:rPr lang="en-US" b="1" dirty="0"/>
              <a:t>Existing Method:</a:t>
            </a:r>
            <a:br>
              <a:rPr lang="en-US" dirty="0"/>
            </a:br>
            <a:r>
              <a:rPr lang="en-US" dirty="0"/>
              <a:t>Driver mobile apps use smartphone GPS to share live location.</a:t>
            </a:r>
          </a:p>
          <a:p>
            <a:r>
              <a:rPr lang="en-US" b="1" dirty="0"/>
              <a:t>Drawbacks:</a:t>
            </a:r>
            <a:endParaRPr lang="en-US" dirty="0"/>
          </a:p>
          <a:p>
            <a:pPr>
              <a:buFont typeface="Arial" panose="020B0604020202020204" pitchFamily="34" charset="0"/>
              <a:buChar char="•"/>
            </a:pPr>
            <a:r>
              <a:rPr lang="en-US" dirty="0"/>
              <a:t>Depends on driver compliance</a:t>
            </a:r>
          </a:p>
          <a:p>
            <a:pPr>
              <a:buFont typeface="Arial" panose="020B0604020202020204" pitchFamily="34" charset="0"/>
              <a:buChar char="•"/>
            </a:pPr>
            <a:r>
              <a:rPr lang="en-US" dirty="0"/>
              <a:t>Battery and connectivity issues</a:t>
            </a:r>
          </a:p>
          <a:p>
            <a:pPr>
              <a:buFont typeface="Arial" panose="020B0604020202020204" pitchFamily="34" charset="0"/>
              <a:buChar char="•"/>
            </a:pPr>
            <a:r>
              <a:rPr lang="en-US" dirty="0"/>
              <a:t>Inconsistent data accuracy</a:t>
            </a:r>
          </a:p>
          <a:p>
            <a:endParaRPr lang="en-IN" dirty="0"/>
          </a:p>
        </p:txBody>
      </p:sp>
    </p:spTree>
    <p:extLst>
      <p:ext uri="{BB962C8B-B14F-4D97-AF65-F5344CB8AC3E}">
        <p14:creationId xmlns:p14="http://schemas.microsoft.com/office/powerpoint/2010/main" val="1610359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5348F-3D96-43C2-A26F-ACA19E80158E}"/>
              </a:ext>
            </a:extLst>
          </p:cNvPr>
          <p:cNvSpPr>
            <a:spLocks noGrp="1"/>
          </p:cNvSpPr>
          <p:nvPr>
            <p:ph type="title"/>
          </p:nvPr>
        </p:nvSpPr>
        <p:spPr/>
        <p:txBody>
          <a:bodyPr/>
          <a:lstStyle/>
          <a:p>
            <a:r>
              <a:rPr lang="en-IN" dirty="0"/>
              <a:t>Architecture Diagram</a:t>
            </a:r>
          </a:p>
        </p:txBody>
      </p:sp>
      <p:sp>
        <p:nvSpPr>
          <p:cNvPr id="3" name="Text Placeholder 2">
            <a:extLst>
              <a:ext uri="{FF2B5EF4-FFF2-40B4-BE49-F238E27FC236}">
                <a16:creationId xmlns:a16="http://schemas.microsoft.com/office/drawing/2014/main" id="{94950DBB-92DD-4129-9827-BAE83E136322}"/>
              </a:ext>
            </a:extLst>
          </p:cNvPr>
          <p:cNvSpPr>
            <a:spLocks noGrp="1"/>
          </p:cNvSpPr>
          <p:nvPr>
            <p:ph type="body" idx="1"/>
          </p:nvPr>
        </p:nvSpPr>
        <p:spPr>
          <a:xfrm rot="10800000">
            <a:off x="6755907" y="5557421"/>
            <a:ext cx="1491981" cy="404467"/>
          </a:xfrm>
        </p:spPr>
        <p:txBody>
          <a:bodyPr>
            <a:normAutofit fontScale="85000" lnSpcReduction="20000"/>
          </a:bodyPr>
          <a:lstStyle/>
          <a:p>
            <a:pPr marL="76200" indent="0">
              <a:buNone/>
            </a:pPr>
            <a:endParaRPr lang="en-IN" dirty="0"/>
          </a:p>
        </p:txBody>
      </p:sp>
      <p:pic>
        <p:nvPicPr>
          <p:cNvPr id="3074" name="Picture 2" descr="Diagram of real-time on-Campus Public Transportation Monitoring System. |  Download Scientific Diagram">
            <a:extLst>
              <a:ext uri="{FF2B5EF4-FFF2-40B4-BE49-F238E27FC236}">
                <a16:creationId xmlns:a16="http://schemas.microsoft.com/office/drawing/2014/main" id="{1BFE4B63-369A-4626-91B6-FA217168E6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8086" y="1029811"/>
            <a:ext cx="8116792" cy="4932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4260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75CA5-A3AA-44B4-9597-533AD073D82E}"/>
              </a:ext>
            </a:extLst>
          </p:cNvPr>
          <p:cNvSpPr>
            <a:spLocks noGrp="1"/>
          </p:cNvSpPr>
          <p:nvPr>
            <p:ph type="title"/>
          </p:nvPr>
        </p:nvSpPr>
        <p:spPr/>
        <p:txBody>
          <a:bodyPr/>
          <a:lstStyle/>
          <a:p>
            <a:r>
              <a:rPr lang="en-US" dirty="0"/>
              <a:t>Modules</a:t>
            </a:r>
            <a:endParaRPr lang="en-IN" dirty="0"/>
          </a:p>
        </p:txBody>
      </p:sp>
      <p:sp>
        <p:nvSpPr>
          <p:cNvPr id="4" name="Rectangle 1">
            <a:extLst>
              <a:ext uri="{FF2B5EF4-FFF2-40B4-BE49-F238E27FC236}">
                <a16:creationId xmlns:a16="http://schemas.microsoft.com/office/drawing/2014/main" id="{FC7ACEB0-094A-4E08-B025-0B5F40111A5E}"/>
              </a:ext>
            </a:extLst>
          </p:cNvPr>
          <p:cNvSpPr>
            <a:spLocks noGrp="1" noChangeArrowheads="1"/>
          </p:cNvSpPr>
          <p:nvPr>
            <p:ph type="body" idx="1"/>
          </p:nvPr>
        </p:nvSpPr>
        <p:spPr bwMode="auto">
          <a:xfrm>
            <a:off x="812800" y="1191042"/>
            <a:ext cx="10914602"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Passenger Interface Module</a:t>
            </a:r>
            <a:br>
              <a:rPr kumimoji="0" lang="en-US" altLang="en-US" sz="1800" b="0" i="0" u="none" strike="noStrike" cap="none" normalizeH="0" baseline="0">
                <a:ln>
                  <a:noFill/>
                </a:ln>
                <a:solidFill>
                  <a:schemeClr val="tx1"/>
                </a:solidFill>
                <a:effectLst/>
                <a:latin typeface="Arial" panose="020B0604020202020204" pitchFamily="34" charset="0"/>
              </a:rPr>
            </a:br>
            <a:r>
              <a:rPr kumimoji="0" lang="en-US" altLang="en-US" sz="1800" b="0" i="0" u="none" strike="noStrike" cap="none" normalizeH="0" baseline="0">
                <a:ln>
                  <a:noFill/>
                </a:ln>
                <a:solidFill>
                  <a:schemeClr val="tx1"/>
                </a:solidFill>
                <a:effectLst/>
                <a:latin typeface="Arial" panose="020B0604020202020204" pitchFamily="34" charset="0"/>
              </a:rPr>
              <a:t>This module provides a web or mobile-based interface for passengers to view route details, vehicle status, and estimated arrival times in real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Driver/Operator Module</a:t>
            </a:r>
            <a:br>
              <a:rPr kumimoji="0" lang="en-US" altLang="en-US" sz="1800" b="0" i="0" u="none" strike="noStrike" cap="none" normalizeH="0" baseline="0">
                <a:ln>
                  <a:noFill/>
                </a:ln>
                <a:solidFill>
                  <a:schemeClr val="tx1"/>
                </a:solidFill>
                <a:effectLst/>
                <a:latin typeface="Arial" panose="020B0604020202020204" pitchFamily="34" charset="0"/>
              </a:rPr>
            </a:br>
            <a:r>
              <a:rPr kumimoji="0" lang="en-US" altLang="en-US" sz="1800" b="0" i="0" u="none" strike="noStrike" cap="none" normalizeH="0" baseline="0">
                <a:ln>
                  <a:noFill/>
                </a:ln>
                <a:solidFill>
                  <a:schemeClr val="tx1"/>
                </a:solidFill>
                <a:effectLst/>
                <a:latin typeface="Arial" panose="020B0604020202020204" pitchFamily="34" charset="0"/>
              </a:rPr>
              <a:t>This module allows drivers or transport operators to update vehicle status such as trip start, stop arrival, and trip completion without using GPS devices.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Backend Processing Module</a:t>
            </a:r>
            <a:br>
              <a:rPr kumimoji="0" lang="en-US" altLang="en-US" sz="1800" b="0" i="0" u="none" strike="noStrike" cap="none" normalizeH="0" baseline="0">
                <a:ln>
                  <a:noFill/>
                </a:ln>
                <a:solidFill>
                  <a:schemeClr val="tx1"/>
                </a:solidFill>
                <a:effectLst/>
                <a:latin typeface="Arial" panose="020B0604020202020204" pitchFamily="34" charset="0"/>
              </a:rPr>
            </a:br>
            <a:r>
              <a:rPr kumimoji="0" lang="en-US" altLang="en-US" sz="1800" b="0" i="0" u="none" strike="noStrike" cap="none" normalizeH="0" baseline="0">
                <a:ln>
                  <a:noFill/>
                </a:ln>
                <a:solidFill>
                  <a:schemeClr val="tx1"/>
                </a:solidFill>
                <a:effectLst/>
                <a:latin typeface="Arial" panose="020B0604020202020204" pitchFamily="34" charset="0"/>
              </a:rPr>
              <a:t>The backend module processes all incoming data, calculates estimated arrival times, and manages communication between the front-end and the database.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Database Management Module</a:t>
            </a:r>
            <a:br>
              <a:rPr kumimoji="0" lang="en-US" altLang="en-US" sz="1800" b="0" i="0" u="none" strike="noStrike" cap="none" normalizeH="0" baseline="0">
                <a:ln>
                  <a:noFill/>
                </a:ln>
                <a:solidFill>
                  <a:schemeClr val="tx1"/>
                </a:solidFill>
                <a:effectLst/>
                <a:latin typeface="Arial" panose="020B0604020202020204" pitchFamily="34" charset="0"/>
              </a:rPr>
            </a:br>
            <a:r>
              <a:rPr kumimoji="0" lang="en-US" altLang="en-US" sz="1800" b="0" i="0" u="none" strike="noStrike" cap="none" normalizeH="0" baseline="0">
                <a:ln>
                  <a:noFill/>
                </a:ln>
                <a:solidFill>
                  <a:schemeClr val="tx1"/>
                </a:solidFill>
                <a:effectLst/>
                <a:latin typeface="Arial" panose="020B0604020202020204" pitchFamily="34" charset="0"/>
              </a:rPr>
              <a:t>This module stores route information, schedules, vehicle updates, and historical data required for system operation.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Admin Management Module</a:t>
            </a:r>
            <a:br>
              <a:rPr kumimoji="0" lang="en-US" altLang="en-US" sz="1800" b="0" i="0" u="none" strike="noStrike" cap="none" normalizeH="0" baseline="0">
                <a:ln>
                  <a:noFill/>
                </a:ln>
                <a:solidFill>
                  <a:schemeClr val="tx1"/>
                </a:solidFill>
                <a:effectLst/>
                <a:latin typeface="Arial" panose="020B0604020202020204" pitchFamily="34" charset="0"/>
              </a:rPr>
            </a:br>
            <a:r>
              <a:rPr kumimoji="0" lang="en-US" altLang="en-US" sz="1800" b="0" i="0" u="none" strike="noStrike" cap="none" normalizeH="0" baseline="0">
                <a:ln>
                  <a:noFill/>
                </a:ln>
                <a:solidFill>
                  <a:schemeClr val="tx1"/>
                </a:solidFill>
                <a:effectLst/>
                <a:latin typeface="Arial" panose="020B0604020202020204" pitchFamily="34" charset="0"/>
              </a:rPr>
              <a:t>This module enables administrators to manage routes, vehicles, schedules, and monitor the overall performance of the system.</a:t>
            </a:r>
          </a:p>
        </p:txBody>
      </p:sp>
    </p:spTree>
    <p:extLst>
      <p:ext uri="{BB962C8B-B14F-4D97-AF65-F5344CB8AC3E}">
        <p14:creationId xmlns:p14="http://schemas.microsoft.com/office/powerpoint/2010/main" val="908194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16B87-4DCC-408D-95E7-BFE9BDA54C6B}"/>
              </a:ext>
            </a:extLst>
          </p:cNvPr>
          <p:cNvSpPr>
            <a:spLocks noGrp="1"/>
          </p:cNvSpPr>
          <p:nvPr>
            <p:ph type="title"/>
          </p:nvPr>
        </p:nvSpPr>
        <p:spPr>
          <a:xfrm>
            <a:off x="812800" y="692458"/>
            <a:ext cx="10668000" cy="69679"/>
          </a:xfrm>
        </p:spPr>
        <p:txBody>
          <a:bodyPr/>
          <a:lstStyle/>
          <a:p>
            <a:r>
              <a:rPr lang="en-US" dirty="0">
                <a:latin typeface="Cambria" panose="02040503050406030204" pitchFamily="18" charset="0"/>
                <a:ea typeface="Cambria" panose="02040503050406030204" pitchFamily="18" charset="0"/>
              </a:rPr>
              <a:t>Software details</a:t>
            </a:r>
            <a:br>
              <a:rPr lang="en-US" dirty="0">
                <a:latin typeface="Cambria" panose="02040503050406030204" pitchFamily="18" charset="0"/>
                <a:ea typeface="Cambria" panose="02040503050406030204" pitchFamily="18" charset="0"/>
              </a:rPr>
            </a:br>
            <a:endParaRPr lang="en-IN" dirty="0"/>
          </a:p>
        </p:txBody>
      </p:sp>
      <p:sp>
        <p:nvSpPr>
          <p:cNvPr id="3" name="Text Placeholder 2">
            <a:extLst>
              <a:ext uri="{FF2B5EF4-FFF2-40B4-BE49-F238E27FC236}">
                <a16:creationId xmlns:a16="http://schemas.microsoft.com/office/drawing/2014/main" id="{3044EB8B-CB05-430A-839A-DFD7306B9074}"/>
              </a:ext>
            </a:extLst>
          </p:cNvPr>
          <p:cNvSpPr>
            <a:spLocks noGrp="1"/>
          </p:cNvSpPr>
          <p:nvPr>
            <p:ph type="body" idx="1"/>
          </p:nvPr>
        </p:nvSpPr>
        <p:spPr/>
        <p:txBody>
          <a:bodyPr>
            <a:normAutofit/>
          </a:bodyPr>
          <a:lstStyle/>
          <a:p>
            <a:pPr marL="533400" indent="-457200">
              <a:buAutoNum type="arabicPeriod"/>
            </a:pPr>
            <a:r>
              <a:rPr lang="en-IN" sz="2000" dirty="0"/>
              <a:t>Frontend Technologies: HTML, CSS, JavaScript, Leaflet.js /Google Maps API</a:t>
            </a:r>
          </a:p>
          <a:p>
            <a:pPr marL="76200" indent="0">
              <a:buNone/>
            </a:pPr>
            <a:endParaRPr lang="en-IN" sz="2000" dirty="0"/>
          </a:p>
          <a:p>
            <a:pPr marL="76200" indent="0">
              <a:buNone/>
            </a:pPr>
            <a:r>
              <a:rPr lang="en-IN" sz="2000" dirty="0"/>
              <a:t>2. Backend Technologies: Node.js, Express.js / Python Flask</a:t>
            </a:r>
          </a:p>
          <a:p>
            <a:pPr marL="76200" indent="0">
              <a:buNone/>
            </a:pPr>
            <a:endParaRPr lang="en-IN" sz="2000" dirty="0"/>
          </a:p>
          <a:p>
            <a:pPr marL="76200" indent="0">
              <a:buNone/>
            </a:pPr>
            <a:r>
              <a:rPr lang="en-IN" sz="2000" dirty="0"/>
              <a:t>3. Real-Time Communication: REST APIs, </a:t>
            </a:r>
            <a:r>
              <a:rPr lang="en-IN" sz="2000" dirty="0" err="1"/>
              <a:t>WebSockets</a:t>
            </a:r>
            <a:r>
              <a:rPr lang="en-IN" sz="2000" dirty="0"/>
              <a:t> (for live updates)</a:t>
            </a:r>
          </a:p>
          <a:p>
            <a:pPr marL="76200" indent="0">
              <a:buNone/>
            </a:pPr>
            <a:endParaRPr lang="en-IN" sz="2000" dirty="0"/>
          </a:p>
          <a:p>
            <a:pPr marL="76200" indent="0">
              <a:buNone/>
            </a:pPr>
            <a:r>
              <a:rPr lang="en-IN" sz="2000" dirty="0"/>
              <a:t>4. Database: MongoDB/MYSQL (Bus routes, schedules, live location data)</a:t>
            </a:r>
          </a:p>
          <a:p>
            <a:pPr marL="76200" indent="0">
              <a:buNone/>
            </a:pPr>
            <a:endParaRPr lang="en-IN" sz="2000" dirty="0"/>
          </a:p>
          <a:p>
            <a:pPr marL="76200" indent="0">
              <a:buNone/>
            </a:pPr>
            <a:r>
              <a:rPr lang="en-IN" sz="2000" dirty="0"/>
              <a:t>5. Location &amp; Mapping Services: GPS-based location tracking, OpenStreetMap APIs</a:t>
            </a:r>
          </a:p>
          <a:p>
            <a:pPr marL="76200" indent="0">
              <a:buNone/>
            </a:pPr>
            <a:endParaRPr lang="en-IN" sz="2000" dirty="0"/>
          </a:p>
          <a:p>
            <a:pPr marL="76200" indent="0">
              <a:buNone/>
            </a:pPr>
            <a:r>
              <a:rPr lang="en-IN" sz="2000" dirty="0"/>
              <a:t>6. Development Tools: VS Code, Postman, Git/GitHub</a:t>
            </a:r>
          </a:p>
        </p:txBody>
      </p:sp>
    </p:spTree>
    <p:extLst>
      <p:ext uri="{BB962C8B-B14F-4D97-AF65-F5344CB8AC3E}">
        <p14:creationId xmlns:p14="http://schemas.microsoft.com/office/powerpoint/2010/main" val="379566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F626A67E-8F4B-BE4C-7C46-85868D76A227}"/>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7BC57BC4-7677-E5B8-30EF-2304EE54F33F}"/>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graphicFrame>
        <p:nvGraphicFramePr>
          <p:cNvPr id="8" name="Table 7">
            <a:extLst>
              <a:ext uri="{FF2B5EF4-FFF2-40B4-BE49-F238E27FC236}">
                <a16:creationId xmlns:a16="http://schemas.microsoft.com/office/drawing/2014/main" id="{2E581234-0AF6-9A30-4418-C8230E583113}"/>
              </a:ext>
            </a:extLst>
          </p:cNvPr>
          <p:cNvGraphicFramePr>
            <a:graphicFrameLocks noGrp="1"/>
          </p:cNvGraphicFramePr>
          <p:nvPr>
            <p:extLst>
              <p:ext uri="{D42A27DB-BD31-4B8C-83A1-F6EECF244321}">
                <p14:modId xmlns:p14="http://schemas.microsoft.com/office/powerpoint/2010/main" val="3241242257"/>
              </p:ext>
            </p:extLst>
          </p:nvPr>
        </p:nvGraphicFramePr>
        <p:xfrm>
          <a:off x="762001" y="1076721"/>
          <a:ext cx="10667997" cy="4873152"/>
        </p:xfrm>
        <a:graphic>
          <a:graphicData uri="http://schemas.openxmlformats.org/drawingml/2006/table">
            <a:tbl>
              <a:tblPr firstRow="1" bandRow="1"/>
              <a:tblGrid>
                <a:gridCol w="1704157">
                  <a:extLst>
                    <a:ext uri="{9D8B030D-6E8A-4147-A177-3AD203B41FA5}">
                      <a16:colId xmlns:a16="http://schemas.microsoft.com/office/drawing/2014/main" val="3186408595"/>
                    </a:ext>
                  </a:extLst>
                </a:gridCol>
                <a:gridCol w="1106601">
                  <a:extLst>
                    <a:ext uri="{9D8B030D-6E8A-4147-A177-3AD203B41FA5}">
                      <a16:colId xmlns:a16="http://schemas.microsoft.com/office/drawing/2014/main" val="3212884615"/>
                    </a:ext>
                  </a:extLst>
                </a:gridCol>
                <a:gridCol w="1036948">
                  <a:extLst>
                    <a:ext uri="{9D8B030D-6E8A-4147-A177-3AD203B41FA5}">
                      <a16:colId xmlns:a16="http://schemas.microsoft.com/office/drawing/2014/main" val="362157760"/>
                    </a:ext>
                  </a:extLst>
                </a:gridCol>
                <a:gridCol w="1046375">
                  <a:extLst>
                    <a:ext uri="{9D8B030D-6E8A-4147-A177-3AD203B41FA5}">
                      <a16:colId xmlns:a16="http://schemas.microsoft.com/office/drawing/2014/main" val="3823185367"/>
                    </a:ext>
                  </a:extLst>
                </a:gridCol>
                <a:gridCol w="1032584">
                  <a:extLst>
                    <a:ext uri="{9D8B030D-6E8A-4147-A177-3AD203B41FA5}">
                      <a16:colId xmlns:a16="http://schemas.microsoft.com/office/drawing/2014/main" val="318833758"/>
                    </a:ext>
                  </a:extLst>
                </a:gridCol>
                <a:gridCol w="1185333">
                  <a:extLst>
                    <a:ext uri="{9D8B030D-6E8A-4147-A177-3AD203B41FA5}">
                      <a16:colId xmlns:a16="http://schemas.microsoft.com/office/drawing/2014/main" val="1601732386"/>
                    </a:ext>
                  </a:extLst>
                </a:gridCol>
                <a:gridCol w="1185333">
                  <a:extLst>
                    <a:ext uri="{9D8B030D-6E8A-4147-A177-3AD203B41FA5}">
                      <a16:colId xmlns:a16="http://schemas.microsoft.com/office/drawing/2014/main" val="1393321952"/>
                    </a:ext>
                  </a:extLst>
                </a:gridCol>
                <a:gridCol w="1185333">
                  <a:extLst>
                    <a:ext uri="{9D8B030D-6E8A-4147-A177-3AD203B41FA5}">
                      <a16:colId xmlns:a16="http://schemas.microsoft.com/office/drawing/2014/main" val="2329500253"/>
                    </a:ext>
                  </a:extLst>
                </a:gridCol>
                <a:gridCol w="1185333">
                  <a:extLst>
                    <a:ext uri="{9D8B030D-6E8A-4147-A177-3AD203B41FA5}">
                      <a16:colId xmlns:a16="http://schemas.microsoft.com/office/drawing/2014/main" val="293410598"/>
                    </a:ext>
                  </a:extLst>
                </a:gridCol>
              </a:tblGrid>
              <a:tr h="517248">
                <a:tc>
                  <a:txBody>
                    <a:bodyPr/>
                    <a:lstStyle/>
                    <a:p>
                      <a:endParaRPr lang="en-IN" dirty="0"/>
                    </a:p>
                  </a:txBody>
                  <a:tcPr/>
                </a:tc>
                <a:tc>
                  <a:txBody>
                    <a:bodyPr/>
                    <a:lstStyle/>
                    <a:p>
                      <a:r>
                        <a:rPr lang="en-US" dirty="0"/>
                        <a:t>1</a:t>
                      </a:r>
                      <a:endParaRPr lang="en-IN" dirty="0"/>
                    </a:p>
                  </a:txBody>
                  <a:tcPr/>
                </a:tc>
                <a:tc>
                  <a:txBody>
                    <a:bodyPr/>
                    <a:lstStyle/>
                    <a:p>
                      <a:r>
                        <a:rPr lang="en-US" dirty="0"/>
                        <a:t>2</a:t>
                      </a:r>
                      <a:endParaRPr lang="en-IN" dirty="0"/>
                    </a:p>
                  </a:txBody>
                  <a:tcPr/>
                </a:tc>
                <a:tc>
                  <a:txBody>
                    <a:bodyPr/>
                    <a:lstStyle/>
                    <a:p>
                      <a:r>
                        <a:rPr lang="en-US" dirty="0"/>
                        <a:t>3</a:t>
                      </a:r>
                      <a:endParaRPr lang="en-IN" dirty="0"/>
                    </a:p>
                  </a:txBody>
                  <a:tcPr/>
                </a:tc>
                <a:tc>
                  <a:txBody>
                    <a:bodyPr/>
                    <a:lstStyle/>
                    <a:p>
                      <a:r>
                        <a:rPr lang="en-US" dirty="0"/>
                        <a:t>4</a:t>
                      </a:r>
                      <a:endParaRPr lang="en-IN" dirty="0"/>
                    </a:p>
                  </a:txBody>
                  <a:tcPr/>
                </a:tc>
                <a:tc>
                  <a:txBody>
                    <a:bodyPr/>
                    <a:lstStyle/>
                    <a:p>
                      <a:r>
                        <a:rPr lang="en-US" dirty="0"/>
                        <a:t>5</a:t>
                      </a:r>
                      <a:endParaRPr lang="en-IN" dirty="0"/>
                    </a:p>
                  </a:txBody>
                  <a:tcPr/>
                </a:tc>
                <a:tc>
                  <a:txBody>
                    <a:bodyPr/>
                    <a:lstStyle/>
                    <a:p>
                      <a:r>
                        <a:rPr lang="en-US" dirty="0"/>
                        <a:t>6</a:t>
                      </a:r>
                      <a:endParaRPr lang="en-IN" dirty="0"/>
                    </a:p>
                  </a:txBody>
                  <a:tcPr/>
                </a:tc>
                <a:tc>
                  <a:txBody>
                    <a:bodyPr/>
                    <a:lstStyle/>
                    <a:p>
                      <a:r>
                        <a:rPr lang="en-US" dirty="0"/>
                        <a:t>7</a:t>
                      </a:r>
                      <a:endParaRPr lang="en-IN" dirty="0"/>
                    </a:p>
                  </a:txBody>
                  <a:tcPr/>
                </a:tc>
                <a:tc>
                  <a:txBody>
                    <a:bodyPr/>
                    <a:lstStyle/>
                    <a:p>
                      <a:r>
                        <a:rPr lang="en-US" dirty="0"/>
                        <a:t>8</a:t>
                      </a:r>
                      <a:endParaRPr lang="en-IN" dirty="0"/>
                    </a:p>
                  </a:txBody>
                  <a:tcPr/>
                </a:tc>
                <a:extLst>
                  <a:ext uri="{0D108BD9-81ED-4DB2-BD59-A6C34878D82A}">
                    <a16:rowId xmlns:a16="http://schemas.microsoft.com/office/drawing/2014/main" val="2341391652"/>
                  </a:ext>
                </a:extLst>
              </a:tr>
              <a:tr h="517248">
                <a:tc>
                  <a:txBody>
                    <a:bodyPr/>
                    <a:lstStyle/>
                    <a:p>
                      <a:r>
                        <a:rPr lang="en-IN" dirty="0"/>
                        <a:t>Requirement analysis, literature review</a:t>
                      </a:r>
                    </a:p>
                  </a:txBody>
                  <a:tcPr/>
                </a:tc>
                <a:tc>
                  <a:txBody>
                    <a:bodyPr/>
                    <a:lstStyle/>
                    <a:p>
                      <a:endParaRPr lang="en-IN" dirty="0"/>
                    </a:p>
                  </a:txBody>
                  <a:tcPr>
                    <a:solidFill>
                      <a:schemeClr val="accent1">
                        <a:lumMod val="40000"/>
                        <a:lumOff val="60000"/>
                      </a:schemeClr>
                    </a:solidFill>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963995293"/>
                  </a:ext>
                </a:extLst>
              </a:tr>
              <a:tr h="517248">
                <a:tc>
                  <a:txBody>
                    <a:bodyPr/>
                    <a:lstStyle/>
                    <a:p>
                      <a:r>
                        <a:rPr lang="en-IN" dirty="0"/>
                        <a:t>System Design</a:t>
                      </a:r>
                    </a:p>
                  </a:txBody>
                  <a:tcPr/>
                </a:tc>
                <a:tc>
                  <a:txBody>
                    <a:bodyPr/>
                    <a:lstStyle/>
                    <a:p>
                      <a:endParaRPr lang="en-IN"/>
                    </a:p>
                  </a:txBody>
                  <a:tcPr/>
                </a:tc>
                <a:tc>
                  <a:txBody>
                    <a:bodyPr/>
                    <a:lstStyle/>
                    <a:p>
                      <a:endParaRPr lang="en-IN" dirty="0"/>
                    </a:p>
                  </a:txBody>
                  <a:tcPr>
                    <a:solidFill>
                      <a:schemeClr val="accent1">
                        <a:lumMod val="40000"/>
                        <a:lumOff val="60000"/>
                      </a:schemeClr>
                    </a:solidFill>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568871412"/>
                  </a:ext>
                </a:extLst>
              </a:tr>
              <a:tr h="517248">
                <a:tc>
                  <a:txBody>
                    <a:bodyPr/>
                    <a:lstStyle/>
                    <a:p>
                      <a:r>
                        <a:rPr lang="en-US" dirty="0"/>
                        <a:t>Backend Development</a:t>
                      </a:r>
                      <a:endParaRPr lang="en-IN" dirty="0"/>
                    </a:p>
                  </a:txBody>
                  <a:tcPr/>
                </a:tc>
                <a:tc>
                  <a:txBody>
                    <a:bodyPr/>
                    <a:lstStyle/>
                    <a:p>
                      <a:endParaRPr lang="en-IN" dirty="0"/>
                    </a:p>
                  </a:txBody>
                  <a:tcPr/>
                </a:tc>
                <a:tc>
                  <a:txBody>
                    <a:bodyPr/>
                    <a:lstStyle/>
                    <a:p>
                      <a:endParaRPr lang="en-IN"/>
                    </a:p>
                  </a:txBody>
                  <a:tcPr/>
                </a:tc>
                <a:tc>
                  <a:txBody>
                    <a:bodyPr/>
                    <a:lstStyle/>
                    <a:p>
                      <a:endParaRPr lang="en-IN" dirty="0"/>
                    </a:p>
                  </a:txBody>
                  <a:tcPr>
                    <a:solidFill>
                      <a:schemeClr val="accent1">
                        <a:lumMod val="40000"/>
                        <a:lumOff val="60000"/>
                      </a:schemeClr>
                    </a:solidFill>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690670483"/>
                  </a:ext>
                </a:extLst>
              </a:tr>
              <a:tr h="517248">
                <a:tc>
                  <a:txBody>
                    <a:bodyPr/>
                    <a:lstStyle/>
                    <a:p>
                      <a:r>
                        <a:rPr lang="en-IN" dirty="0"/>
                        <a:t>GPS Simulation</a:t>
                      </a:r>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solidFill>
                      <a:schemeClr val="accent1">
                        <a:lumMod val="40000"/>
                        <a:lumOff val="60000"/>
                      </a:schemeClr>
                    </a:solidFill>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955568549"/>
                  </a:ext>
                </a:extLst>
              </a:tr>
              <a:tr h="517248">
                <a:tc>
                  <a:txBody>
                    <a:bodyPr/>
                    <a:lstStyle/>
                    <a:p>
                      <a:r>
                        <a:rPr lang="en-IN" dirty="0"/>
                        <a:t>Frontend Development</a:t>
                      </a:r>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solidFill>
                      <a:schemeClr val="accent1">
                        <a:lumMod val="40000"/>
                        <a:lumOff val="60000"/>
                      </a:schemeClr>
                    </a:solidFill>
                  </a:tcPr>
                </a:tc>
                <a:tc>
                  <a:txBody>
                    <a:bodyPr/>
                    <a:lstStyle/>
                    <a:p>
                      <a:endParaRPr lang="en-IN"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066159565"/>
                  </a:ext>
                </a:extLst>
              </a:tr>
              <a:tr h="517248">
                <a:tc>
                  <a:txBody>
                    <a:bodyPr/>
                    <a:lstStyle/>
                    <a:p>
                      <a:r>
                        <a:rPr lang="en-IN" dirty="0"/>
                        <a:t>Integration</a:t>
                      </a:r>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solidFill>
                      <a:schemeClr val="accent1">
                        <a:lumMod val="40000"/>
                        <a:lumOff val="60000"/>
                      </a:schemeClr>
                    </a:solidFill>
                  </a:tcPr>
                </a:tc>
                <a:tc>
                  <a:txBody>
                    <a:bodyPr/>
                    <a:lstStyle/>
                    <a:p>
                      <a:endParaRPr lang="en-IN"/>
                    </a:p>
                  </a:txBody>
                  <a:tcPr/>
                </a:tc>
                <a:tc>
                  <a:txBody>
                    <a:bodyPr/>
                    <a:lstStyle/>
                    <a:p>
                      <a:endParaRPr lang="en-IN"/>
                    </a:p>
                  </a:txBody>
                  <a:tcPr/>
                </a:tc>
                <a:extLst>
                  <a:ext uri="{0D108BD9-81ED-4DB2-BD59-A6C34878D82A}">
                    <a16:rowId xmlns:a16="http://schemas.microsoft.com/office/drawing/2014/main" val="1339341282"/>
                  </a:ext>
                </a:extLst>
              </a:tr>
              <a:tr h="517248">
                <a:tc>
                  <a:txBody>
                    <a:bodyPr/>
                    <a:lstStyle/>
                    <a:p>
                      <a:r>
                        <a:rPr lang="en-IN" dirty="0"/>
                        <a:t>Testing &amp; Debugging </a:t>
                      </a:r>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solidFill>
                      <a:schemeClr val="accent1">
                        <a:lumMod val="40000"/>
                        <a:lumOff val="60000"/>
                      </a:schemeClr>
                    </a:solidFill>
                  </a:tcPr>
                </a:tc>
                <a:tc>
                  <a:txBody>
                    <a:bodyPr/>
                    <a:lstStyle/>
                    <a:p>
                      <a:endParaRPr lang="en-IN"/>
                    </a:p>
                  </a:txBody>
                  <a:tcPr/>
                </a:tc>
                <a:extLst>
                  <a:ext uri="{0D108BD9-81ED-4DB2-BD59-A6C34878D82A}">
                    <a16:rowId xmlns:a16="http://schemas.microsoft.com/office/drawing/2014/main" val="870050868"/>
                  </a:ext>
                </a:extLst>
              </a:tr>
              <a:tr h="517248">
                <a:tc>
                  <a:txBody>
                    <a:bodyPr/>
                    <a:lstStyle/>
                    <a:p>
                      <a:r>
                        <a:rPr lang="en-IN" dirty="0"/>
                        <a:t>Deployment &amp; Documentation</a:t>
                      </a:r>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dirty="0"/>
                    </a:p>
                  </a:txBody>
                  <a:tcPr/>
                </a:tc>
                <a:tc>
                  <a:txBody>
                    <a:bodyPr/>
                    <a:lstStyle/>
                    <a:p>
                      <a:endParaRPr lang="en-IN" dirty="0"/>
                    </a:p>
                  </a:txBody>
                  <a:tcPr>
                    <a:solidFill>
                      <a:schemeClr val="accent1">
                        <a:lumMod val="40000"/>
                        <a:lumOff val="60000"/>
                      </a:schemeClr>
                    </a:solidFill>
                  </a:tcPr>
                </a:tc>
                <a:extLst>
                  <a:ext uri="{0D108BD9-81ED-4DB2-BD59-A6C34878D82A}">
                    <a16:rowId xmlns:a16="http://schemas.microsoft.com/office/drawing/2014/main" val="3952931858"/>
                  </a:ext>
                </a:extLst>
              </a:tr>
            </a:tbl>
          </a:graphicData>
        </a:graphic>
      </p:graphicFrame>
    </p:spTree>
    <p:extLst>
      <p:ext uri="{BB962C8B-B14F-4D97-AF65-F5344CB8AC3E}">
        <p14:creationId xmlns:p14="http://schemas.microsoft.com/office/powerpoint/2010/main" val="1675050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a:t>
            </a:r>
            <a:endParaRPr dirty="0">
              <a:latin typeface="Cambria" panose="02040503050406030204" pitchFamily="18" charset="0"/>
              <a:ea typeface="Cambria" panose="02040503050406030204" pitchFamily="18" charset="0"/>
            </a:endParaRPr>
          </a:p>
        </p:txBody>
      </p:sp>
      <p:sp>
        <p:nvSpPr>
          <p:cNvPr id="7" name="Text Placeholder 6">
            <a:extLst>
              <a:ext uri="{FF2B5EF4-FFF2-40B4-BE49-F238E27FC236}">
                <a16:creationId xmlns:a16="http://schemas.microsoft.com/office/drawing/2014/main" id="{86D89949-D6A4-8A75-0223-89403AF32978}"/>
              </a:ext>
            </a:extLst>
          </p:cNvPr>
          <p:cNvSpPr>
            <a:spLocks noGrp="1" noChangeArrowheads="1"/>
          </p:cNvSpPr>
          <p:nvPr>
            <p:ph type="body" idx="1"/>
          </p:nvPr>
        </p:nvSpPr>
        <p:spPr bwMode="auto">
          <a:xfrm>
            <a:off x="511142" y="1116814"/>
            <a:ext cx="10668000" cy="4760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800" dirty="0"/>
              <a:t>[1] R. K. Gupta and S. Jain, “Real-time public transport tracking system using GPS and web technologies,” </a:t>
            </a:r>
            <a:r>
              <a:rPr lang="en-IN" sz="1800" i="1" dirty="0"/>
              <a:t>International Journal of Computer Applications</a:t>
            </a:r>
            <a:r>
              <a:rPr lang="en-IN" sz="1800" dirty="0"/>
              <a:t>, vol. 176, no. 25, pp. 1–6, Apr. 2020.</a:t>
            </a:r>
          </a:p>
          <a:p>
            <a:pPr marL="76200" indent="0">
              <a:buNone/>
            </a:pPr>
            <a:endParaRPr lang="en-IN" sz="1800" dirty="0"/>
          </a:p>
          <a:p>
            <a:r>
              <a:rPr lang="en-IN" sz="1800" dirty="0"/>
              <a:t>[2] S. Patil, A. Kulkarni, and P. Deshpande, “Smart bus tracking system using GPS and GSM,” </a:t>
            </a:r>
            <a:r>
              <a:rPr lang="en-IN" sz="1800" i="1" dirty="0"/>
              <a:t>International Journal of Engineering Research &amp; Technology (IJERT)</a:t>
            </a:r>
            <a:r>
              <a:rPr lang="en-IN" sz="1800" dirty="0"/>
              <a:t>, vol. 8, no. 4, pp. 112–116, 2019.</a:t>
            </a:r>
          </a:p>
          <a:p>
            <a:pPr marL="76200" indent="0">
              <a:buNone/>
            </a:pPr>
            <a:endParaRPr lang="en-IN" sz="1800" dirty="0"/>
          </a:p>
          <a:p>
            <a:r>
              <a:rPr lang="en-US" sz="1800" dirty="0"/>
              <a:t>[5] A. Singh and N. Verma, “Design and implementation of a real-time vehicle tracking system,” </a:t>
            </a:r>
            <a:r>
              <a:rPr lang="en-US" sz="1800" i="1" dirty="0"/>
              <a:t>IEEE International Conference on Smart Cities and Urban Computing</a:t>
            </a:r>
            <a:r>
              <a:rPr lang="en-US" sz="1800" dirty="0"/>
              <a:t>, pp. 210–215, 2018.</a:t>
            </a:r>
          </a:p>
          <a:p>
            <a:pPr marL="76200" indent="0">
              <a:buNone/>
            </a:pPr>
            <a:endParaRPr lang="en-US" sz="1800" dirty="0"/>
          </a:p>
          <a:p>
            <a:r>
              <a:rPr lang="en-US" sz="1800" dirty="0"/>
              <a:t>[6] Smart India Hackathon, “Problem statement: Real-Time Public Transport Tracking for Small Cities,” Government of India, 2025. </a:t>
            </a:r>
          </a:p>
          <a:p>
            <a:endParaRPr lang="en-IN"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616</TotalTime>
  <Words>1273</Words>
  <Application>Microsoft Office PowerPoint</Application>
  <PresentationFormat>Widescreen</PresentationFormat>
  <Paragraphs>161</Paragraphs>
  <Slides>16</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Bookman Old Style</vt:lpstr>
      <vt:lpstr>Cambria</vt:lpstr>
      <vt:lpstr>Verdana</vt:lpstr>
      <vt:lpstr>Wingdings</vt:lpstr>
      <vt:lpstr>Bioinformatics</vt:lpstr>
      <vt:lpstr>REAL-TIME PUBLIC TRANSPORT TRACKING FOR SMALL CITIES</vt:lpstr>
      <vt:lpstr>Content</vt:lpstr>
      <vt:lpstr>Abstract</vt:lpstr>
      <vt:lpstr>Literature Survey</vt:lpstr>
      <vt:lpstr>Literature Survey</vt:lpstr>
      <vt:lpstr>Literature Survey</vt:lpstr>
      <vt:lpstr>Objectives</vt:lpstr>
      <vt:lpstr>Existing methods and drawbacks </vt:lpstr>
      <vt:lpstr>Existing methods and drawbacks </vt:lpstr>
      <vt:lpstr>Existing methods and drawbacks</vt:lpstr>
      <vt:lpstr>Architecture Diagram</vt:lpstr>
      <vt:lpstr>Modules</vt:lpstr>
      <vt:lpstr>Software details </vt:lpstr>
      <vt:lpstr>Timeline of the Project (Gantt Chart)</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Kumudh Rao.M</cp:lastModifiedBy>
  <cp:revision>59</cp:revision>
  <dcterms:modified xsi:type="dcterms:W3CDTF">2026-02-11T05:59:01Z</dcterms:modified>
</cp:coreProperties>
</file>