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69" r:id="rId4"/>
    <p:sldId id="273" r:id="rId5"/>
    <p:sldId id="272" r:id="rId6"/>
    <p:sldId id="275" r:id="rId7"/>
    <p:sldId id="268" r:id="rId8"/>
    <p:sldId id="274" r:id="rId9"/>
    <p:sldId id="265" r:id="rId10"/>
    <p:sldId id="26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20AE67D4-1BD1-C862-2DD5-B68BEBDE7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BD5F6BCD-F072-9C1B-DFBF-5650E3B17F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26CB27DC-AD93-E0CF-38A8-12E000DA4C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9642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4893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2DB35CE9-7D40-8761-0838-8240FBE63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058B3842-D3C4-D9FD-B147-182667B9AA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F99E2C5E-D35A-C93A-5F3D-1AA46C3631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701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REAL-TIME PUBLIC TRANSPORT TRACKING FOR SMALL CITIES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CSG-45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Ms. Shet Reshma Prakash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886409593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CSG AIML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1800" b="1" dirty="0"/>
              <a:t>Dr . Pallavi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b="1" dirty="0">
                <a:solidFill>
                  <a:schemeClr val="tx1"/>
                </a:solidFill>
              </a:rPr>
              <a:t>Ms Benitha </a:t>
            </a:r>
            <a:r>
              <a:rPr lang="en-IN" sz="1800" b="1" dirty="0" err="1">
                <a:solidFill>
                  <a:schemeClr val="tx1"/>
                </a:solidFill>
              </a:rPr>
              <a:t>Christinal</a:t>
            </a:r>
            <a:r>
              <a:rPr lang="en-IN" sz="1800" b="1" dirty="0">
                <a:solidFill>
                  <a:schemeClr val="tx1"/>
                </a:solidFill>
              </a:rPr>
              <a:t> J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5BA45B-4C38-FF79-41D1-624F60B06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659371"/>
              </p:ext>
            </p:extLst>
          </p:nvPr>
        </p:nvGraphicFramePr>
        <p:xfrm>
          <a:off x="565267" y="3262890"/>
          <a:ext cx="5016444" cy="889000"/>
        </p:xfrm>
        <a:graphic>
          <a:graphicData uri="http://schemas.openxmlformats.org/drawingml/2006/table">
            <a:tbl>
              <a:tblPr firstRow="1" bandRow="1"/>
              <a:tblGrid>
                <a:gridCol w="2508222">
                  <a:extLst>
                    <a:ext uri="{9D8B030D-6E8A-4147-A177-3AD203B41FA5}">
                      <a16:colId xmlns:a16="http://schemas.microsoft.com/office/drawing/2014/main" val="2225602218"/>
                    </a:ext>
                  </a:extLst>
                </a:gridCol>
                <a:gridCol w="2508222">
                  <a:extLst>
                    <a:ext uri="{9D8B030D-6E8A-4147-A177-3AD203B41FA5}">
                      <a16:colId xmlns:a16="http://schemas.microsoft.com/office/drawing/2014/main" val="2754455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20221CSG0078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Keerthi.G</a:t>
                      </a:r>
                      <a:r>
                        <a:rPr lang="en-US" dirty="0"/>
                        <a:t>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525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20221CSG0052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err="1"/>
                        <a:t>Kumudh</a:t>
                      </a:r>
                      <a:r>
                        <a:rPr lang="en-US" dirty="0"/>
                        <a:t> Rao </a:t>
                      </a:r>
                      <a:r>
                        <a:rPr lang="en-US" dirty="0" err="1"/>
                        <a:t>Harale</a:t>
                      </a:r>
                      <a:r>
                        <a:rPr lang="en-US" dirty="0"/>
                        <a:t> M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1374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76200" indent="0">
              <a:buNone/>
            </a:pPr>
            <a:r>
              <a:rPr lang="en-US" sz="2000" dirty="0"/>
              <a:t>The project aims to develop a real-time public transport tracking system for small cities to provide live bus location updates and estimated arrival times. By enabling commuters to track buses through a web-based platform, the system reduces waiting time and improves travel planning. This solution promotes reliable and sustainable use of public transportation.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sz="1800" b="1" u="sng" dirty="0"/>
              <a:t>Technology Stack Components:</a:t>
            </a:r>
          </a:p>
          <a:p>
            <a:pPr marL="76200" indent="0">
              <a:buNone/>
            </a:pPr>
            <a:endParaRPr lang="en-IN" sz="1800" b="1" dirty="0"/>
          </a:p>
          <a:p>
            <a:pPr marL="76200" indent="0">
              <a:buNone/>
            </a:pPr>
            <a:r>
              <a:rPr lang="en-IN" sz="1800" dirty="0"/>
              <a:t>• </a:t>
            </a:r>
            <a:r>
              <a:rPr lang="en-IN" sz="1800" b="1" dirty="0"/>
              <a:t>Frontend Technologies: </a:t>
            </a:r>
            <a:r>
              <a:rPr lang="en-IN" sz="1800" dirty="0"/>
              <a:t>HTML, CSS, JavaScript, Leaflet.js / Google Maps API</a:t>
            </a:r>
          </a:p>
          <a:p>
            <a:pPr marL="76200" indent="0">
              <a:buNone/>
            </a:pPr>
            <a:endParaRPr lang="en-IN" sz="1800" dirty="0"/>
          </a:p>
          <a:p>
            <a:pPr marL="76200" indent="0">
              <a:buNone/>
            </a:pPr>
            <a:r>
              <a:rPr lang="en-IN" sz="1800" dirty="0"/>
              <a:t>• </a:t>
            </a:r>
            <a:r>
              <a:rPr lang="en-IN" sz="1800" b="1" dirty="0"/>
              <a:t>Backend Technologies: </a:t>
            </a:r>
            <a:r>
              <a:rPr lang="en-IN" sz="1800" dirty="0"/>
              <a:t>Node.js, Express.js</a:t>
            </a:r>
          </a:p>
          <a:p>
            <a:pPr marL="76200" indent="0">
              <a:buNone/>
            </a:pPr>
            <a:endParaRPr lang="en-IN" sz="1800" dirty="0"/>
          </a:p>
          <a:p>
            <a:pPr marL="76200" indent="0">
              <a:buNone/>
            </a:pPr>
            <a:r>
              <a:rPr lang="en-IN" sz="1800" dirty="0"/>
              <a:t>• </a:t>
            </a:r>
            <a:r>
              <a:rPr lang="en-IN" sz="1800" b="1" dirty="0"/>
              <a:t>Real-Time Communication: </a:t>
            </a:r>
            <a:r>
              <a:rPr lang="en-IN" sz="1800" dirty="0"/>
              <a:t>Express.js APIs, </a:t>
            </a:r>
            <a:r>
              <a:rPr lang="en-IN" sz="1800" dirty="0" err="1"/>
              <a:t>WebSockets</a:t>
            </a:r>
            <a:r>
              <a:rPr lang="en-IN" sz="1800" dirty="0"/>
              <a:t> (for live updates)</a:t>
            </a:r>
          </a:p>
          <a:p>
            <a:pPr marL="76200" indent="0">
              <a:buNone/>
            </a:pPr>
            <a:endParaRPr lang="en-IN" sz="1800" dirty="0"/>
          </a:p>
          <a:p>
            <a:pPr marL="76200" indent="0">
              <a:buNone/>
            </a:pPr>
            <a:r>
              <a:rPr lang="en-IN" sz="1800" dirty="0"/>
              <a:t>• </a:t>
            </a:r>
            <a:r>
              <a:rPr lang="en-IN" sz="1800" b="1" dirty="0"/>
              <a:t>Database: </a:t>
            </a:r>
            <a:r>
              <a:rPr lang="en-IN" sz="1800" dirty="0"/>
              <a:t>MongoDB / MySQL (Bus routes, schedules, live location data)</a:t>
            </a:r>
          </a:p>
          <a:p>
            <a:pPr marL="76200" indent="0">
              <a:buNone/>
            </a:pPr>
            <a:endParaRPr lang="en-IN" sz="1800" dirty="0"/>
          </a:p>
          <a:p>
            <a:pPr marL="76200" indent="0">
              <a:buNone/>
            </a:pPr>
            <a:r>
              <a:rPr lang="en-IN" sz="1800" dirty="0"/>
              <a:t>• </a:t>
            </a:r>
            <a:r>
              <a:rPr lang="en-IN" sz="1800" b="1" dirty="0"/>
              <a:t>Location &amp; Mapping Services: </a:t>
            </a:r>
            <a:r>
              <a:rPr lang="en-IN" sz="1800" dirty="0"/>
              <a:t>GPS-based location tracking, OpenStreetMap APIs</a:t>
            </a:r>
          </a:p>
          <a:p>
            <a:pPr marL="76200" indent="0">
              <a:buNone/>
            </a:pPr>
            <a:endParaRPr lang="en-IN" sz="1800" dirty="0"/>
          </a:p>
          <a:p>
            <a:pPr marL="76200" indent="0">
              <a:buNone/>
            </a:pPr>
            <a:r>
              <a:rPr lang="en-IN" sz="1800" dirty="0"/>
              <a:t>• </a:t>
            </a:r>
            <a:r>
              <a:rPr lang="en-IN" sz="1800" b="1" dirty="0"/>
              <a:t>Development Tools: </a:t>
            </a:r>
            <a:r>
              <a:rPr lang="en-IN" sz="1800" dirty="0"/>
              <a:t>VS Code, Postman, Git/GitHub</a:t>
            </a:r>
          </a:p>
          <a:p>
            <a:pPr marL="152400" indent="0" algn="just">
              <a:spcBef>
                <a:spcPts val="0"/>
              </a:spcBef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spcBef>
                <a:spcPts val="0"/>
              </a:spcBef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spcBef>
                <a:spcPts val="0"/>
              </a:spcBef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Software Requirements: </a:t>
            </a:r>
          </a:p>
          <a:p>
            <a:pPr marL="76200" indent="0">
              <a:buNone/>
            </a:pPr>
            <a:r>
              <a:rPr lang="en-IN" sz="2000" dirty="0"/>
              <a:t>Entirely software-based real-time tracking system (no additional physical infrastructure required).</a:t>
            </a:r>
            <a:br>
              <a:rPr lang="en-IN" sz="2000" dirty="0"/>
            </a:br>
            <a:r>
              <a:rPr lang="en-IN" sz="2000" dirty="0"/>
              <a:t>• Integration of GPS/location data with backend services.</a:t>
            </a:r>
            <a:br>
              <a:rPr lang="en-IN" sz="2000" dirty="0"/>
            </a:br>
            <a:r>
              <a:rPr lang="en-IN" sz="2000" dirty="0"/>
              <a:t>• Real-time data processing and communication between server and client.</a:t>
            </a:r>
            <a:br>
              <a:rPr lang="en-IN" sz="2000" dirty="0"/>
            </a:br>
            <a:r>
              <a:rPr lang="en-IN" sz="2000" dirty="0"/>
              <a:t>• Interactive map-based visualization for commuters and administrators.</a:t>
            </a:r>
            <a:br>
              <a:rPr lang="en-IN" sz="2000" dirty="0"/>
            </a:br>
            <a:r>
              <a:rPr lang="en-IN" sz="2000" dirty="0"/>
              <a:t>• Technologies: HTML, CSS, JavaScript, Node.js, Express.js, MongoDB, Leaflet.js, GitHub</a:t>
            </a:r>
          </a:p>
          <a:p>
            <a:pPr marL="76200" indent="0">
              <a:buNone/>
            </a:pPr>
            <a:endParaRPr lang="en-IN" sz="2000" dirty="0"/>
          </a:p>
          <a:p>
            <a:pPr marL="76200" indent="0">
              <a:buNone/>
            </a:pPr>
            <a:r>
              <a:rPr lang="en-IN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Hardware Requirements: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•  </a:t>
            </a:r>
            <a:r>
              <a:rPr lang="en-US" sz="2000" dirty="0"/>
              <a:t>Standard laptop/desktop system for development and testing.</a:t>
            </a:r>
            <a:br>
              <a:rPr lang="en-US" sz="2000" dirty="0"/>
            </a:br>
            <a:r>
              <a:rPr lang="en-US" sz="2000" dirty="0"/>
              <a:t>• Internet connectivity for real-time data transmission and map services.</a:t>
            </a:r>
            <a:br>
              <a:rPr lang="en-US" sz="2000" dirty="0"/>
            </a:br>
            <a:r>
              <a:rPr lang="en-US" sz="2000" dirty="0"/>
              <a:t>• Optional cloud server for deployment and scalability.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F3CD32-92A9-8A97-7D94-D15808F24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81C8BE16-F7FC-3CD6-E80E-8502CEA960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/>
              <a:t>Innovation / Novel Contributions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F59FB118-4F5A-CF55-12E4-198AD70342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>
            <a:extLst>
              <a:ext uri="{FF2B5EF4-FFF2-40B4-BE49-F238E27FC236}">
                <a16:creationId xmlns:a16="http://schemas.microsoft.com/office/drawing/2014/main" id="{D14D3208-CC0B-2D3F-DF2B-89CAC9266C1B}"/>
              </a:ext>
            </a:extLst>
          </p:cNvPr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>
            <a:extLst>
              <a:ext uri="{FF2B5EF4-FFF2-40B4-BE49-F238E27FC236}">
                <a16:creationId xmlns:a16="http://schemas.microsoft.com/office/drawing/2014/main" id="{D015571E-495F-F616-4E26-1C192D0C6EC2}"/>
              </a:ext>
            </a:extLst>
          </p:cNvPr>
          <p:cNvSpPr txBox="1">
            <a:spLocks/>
          </p:cNvSpPr>
          <p:nvPr/>
        </p:nvSpPr>
        <p:spPr>
          <a:xfrm>
            <a:off x="812800" y="1426572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1E9115-2597-F6F1-9253-2DC6CB861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382286"/>
            <a:ext cx="105664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Cost-effective real-time tracking solution designed specifically for small cities and tier-2 towns with limited infrastructure.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Software-based GPS simulation approach, enabling deployment without expensive onboard hardware during initial implementation.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Live map-based visualization with ETA estimation, improving commuter decision-making and reducing waiting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Scalable and modular architecture that allows easy expansion to multiple routes, buses, and cities.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Low-data and user-friendly interface, ensuring accessibility for a wide range of users</a:t>
            </a:r>
          </a:p>
        </p:txBody>
      </p:sp>
    </p:spTree>
    <p:extLst>
      <p:ext uri="{BB962C8B-B14F-4D97-AF65-F5344CB8AC3E}">
        <p14:creationId xmlns:p14="http://schemas.microsoft.com/office/powerpoint/2010/main" val="2405284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https://github.com/jovial123keerthi-bit/Real-Time-Public-Transport-Tracking-for-Small-Cities-CSG_45-.git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87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F626A67E-8F4B-BE4C-7C46-85868D76A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BC57BC4-7677-E5B8-30EF-2304EE54F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E581234-0AF6-9A30-4418-C8230E583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242257"/>
              </p:ext>
            </p:extLst>
          </p:nvPr>
        </p:nvGraphicFramePr>
        <p:xfrm>
          <a:off x="762001" y="1076721"/>
          <a:ext cx="10667997" cy="4873152"/>
        </p:xfrm>
        <a:graphic>
          <a:graphicData uri="http://schemas.openxmlformats.org/drawingml/2006/table">
            <a:tbl>
              <a:tblPr firstRow="1" bandRow="1"/>
              <a:tblGrid>
                <a:gridCol w="1704157">
                  <a:extLst>
                    <a:ext uri="{9D8B030D-6E8A-4147-A177-3AD203B41FA5}">
                      <a16:colId xmlns:a16="http://schemas.microsoft.com/office/drawing/2014/main" val="3186408595"/>
                    </a:ext>
                  </a:extLst>
                </a:gridCol>
                <a:gridCol w="1106601">
                  <a:extLst>
                    <a:ext uri="{9D8B030D-6E8A-4147-A177-3AD203B41FA5}">
                      <a16:colId xmlns:a16="http://schemas.microsoft.com/office/drawing/2014/main" val="3212884615"/>
                    </a:ext>
                  </a:extLst>
                </a:gridCol>
                <a:gridCol w="1036948">
                  <a:extLst>
                    <a:ext uri="{9D8B030D-6E8A-4147-A177-3AD203B41FA5}">
                      <a16:colId xmlns:a16="http://schemas.microsoft.com/office/drawing/2014/main" val="362157760"/>
                    </a:ext>
                  </a:extLst>
                </a:gridCol>
                <a:gridCol w="1046375">
                  <a:extLst>
                    <a:ext uri="{9D8B030D-6E8A-4147-A177-3AD203B41FA5}">
                      <a16:colId xmlns:a16="http://schemas.microsoft.com/office/drawing/2014/main" val="3823185367"/>
                    </a:ext>
                  </a:extLst>
                </a:gridCol>
                <a:gridCol w="1032584">
                  <a:extLst>
                    <a:ext uri="{9D8B030D-6E8A-4147-A177-3AD203B41FA5}">
                      <a16:colId xmlns:a16="http://schemas.microsoft.com/office/drawing/2014/main" val="318833758"/>
                    </a:ext>
                  </a:extLst>
                </a:gridCol>
                <a:gridCol w="1185333">
                  <a:extLst>
                    <a:ext uri="{9D8B030D-6E8A-4147-A177-3AD203B41FA5}">
                      <a16:colId xmlns:a16="http://schemas.microsoft.com/office/drawing/2014/main" val="1601732386"/>
                    </a:ext>
                  </a:extLst>
                </a:gridCol>
                <a:gridCol w="1185333">
                  <a:extLst>
                    <a:ext uri="{9D8B030D-6E8A-4147-A177-3AD203B41FA5}">
                      <a16:colId xmlns:a16="http://schemas.microsoft.com/office/drawing/2014/main" val="1393321952"/>
                    </a:ext>
                  </a:extLst>
                </a:gridCol>
                <a:gridCol w="1185333">
                  <a:extLst>
                    <a:ext uri="{9D8B030D-6E8A-4147-A177-3AD203B41FA5}">
                      <a16:colId xmlns:a16="http://schemas.microsoft.com/office/drawing/2014/main" val="2329500253"/>
                    </a:ext>
                  </a:extLst>
                </a:gridCol>
                <a:gridCol w="1185333">
                  <a:extLst>
                    <a:ext uri="{9D8B030D-6E8A-4147-A177-3AD203B41FA5}">
                      <a16:colId xmlns:a16="http://schemas.microsoft.com/office/drawing/2014/main" val="293410598"/>
                    </a:ext>
                  </a:extLst>
                </a:gridCol>
              </a:tblGrid>
              <a:tr h="5172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391652"/>
                  </a:ext>
                </a:extLst>
              </a:tr>
              <a:tr h="517248">
                <a:tc>
                  <a:txBody>
                    <a:bodyPr/>
                    <a:lstStyle/>
                    <a:p>
                      <a:r>
                        <a:rPr lang="en-IN" dirty="0"/>
                        <a:t>Requirement analysis, literature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995293"/>
                  </a:ext>
                </a:extLst>
              </a:tr>
              <a:tr h="517248">
                <a:tc>
                  <a:txBody>
                    <a:bodyPr/>
                    <a:lstStyle/>
                    <a:p>
                      <a:r>
                        <a:rPr lang="en-IN" dirty="0"/>
                        <a:t>System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871412"/>
                  </a:ext>
                </a:extLst>
              </a:tr>
              <a:tr h="517248">
                <a:tc>
                  <a:txBody>
                    <a:bodyPr/>
                    <a:lstStyle/>
                    <a:p>
                      <a:r>
                        <a:rPr lang="en-US" dirty="0"/>
                        <a:t>Backend Development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670483"/>
                  </a:ext>
                </a:extLst>
              </a:tr>
              <a:tr h="517248">
                <a:tc>
                  <a:txBody>
                    <a:bodyPr/>
                    <a:lstStyle/>
                    <a:p>
                      <a:r>
                        <a:rPr lang="en-IN" dirty="0"/>
                        <a:t>GPS 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568549"/>
                  </a:ext>
                </a:extLst>
              </a:tr>
              <a:tr h="517248">
                <a:tc>
                  <a:txBody>
                    <a:bodyPr/>
                    <a:lstStyle/>
                    <a:p>
                      <a:r>
                        <a:rPr lang="en-IN" dirty="0"/>
                        <a:t>Frontend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159565"/>
                  </a:ext>
                </a:extLst>
              </a:tr>
              <a:tr h="517248">
                <a:tc>
                  <a:txBody>
                    <a:bodyPr/>
                    <a:lstStyle/>
                    <a:p>
                      <a:r>
                        <a:rPr lang="en-IN" dirty="0"/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341282"/>
                  </a:ext>
                </a:extLst>
              </a:tr>
              <a:tr h="517248">
                <a:tc>
                  <a:txBody>
                    <a:bodyPr/>
                    <a:lstStyle/>
                    <a:p>
                      <a:r>
                        <a:rPr lang="en-IN" dirty="0"/>
                        <a:t>Testing &amp; Debugging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050868"/>
                  </a:ext>
                </a:extLst>
              </a:tr>
              <a:tr h="517248">
                <a:tc>
                  <a:txBody>
                    <a:bodyPr/>
                    <a:lstStyle/>
                    <a:p>
                      <a:r>
                        <a:rPr lang="en-IN" dirty="0"/>
                        <a:t>Deployment &amp;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931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050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D89949-D6A4-8A75-0223-89403AF329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1142" y="1116814"/>
            <a:ext cx="10668000" cy="4760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dirty="0"/>
              <a:t>[1] R. K. Gupta and S. Jain, “Real-time public transport tracking system using GPS and web technologies,” </a:t>
            </a:r>
            <a:r>
              <a:rPr lang="en-IN" sz="1800" i="1" dirty="0"/>
              <a:t>International Journal of Computer Applications</a:t>
            </a:r>
            <a:r>
              <a:rPr lang="en-IN" sz="1800" dirty="0"/>
              <a:t>, vol. 176, no. 25, pp. 1–6, Apr. 2020.</a:t>
            </a:r>
          </a:p>
          <a:p>
            <a:pPr marL="76200" indent="0">
              <a:buNone/>
            </a:pPr>
            <a:endParaRPr lang="en-IN" sz="1800" dirty="0"/>
          </a:p>
          <a:p>
            <a:r>
              <a:rPr lang="en-IN" sz="1800" dirty="0"/>
              <a:t>[2] S. Patil, A. Kulkarni, and P. Deshpande, “Smart bus tracking system using GPS and GSM,” </a:t>
            </a:r>
            <a:r>
              <a:rPr lang="en-IN" sz="1800" i="1" dirty="0"/>
              <a:t>International Journal of Engineering Research &amp; Technology (IJERT)</a:t>
            </a:r>
            <a:r>
              <a:rPr lang="en-IN" sz="1800" dirty="0"/>
              <a:t>, vol. 8, no. 4, pp. 112–116, 2019.</a:t>
            </a:r>
          </a:p>
          <a:p>
            <a:pPr marL="76200" indent="0">
              <a:buNone/>
            </a:pPr>
            <a:endParaRPr lang="en-IN" sz="1800" dirty="0"/>
          </a:p>
          <a:p>
            <a:r>
              <a:rPr lang="en-US" sz="1800" dirty="0"/>
              <a:t>[5] A. Singh and N. Verma, “Design and implementation of a real-time vehicle tracking system,” </a:t>
            </a:r>
            <a:r>
              <a:rPr lang="en-US" sz="1800" i="1" dirty="0"/>
              <a:t>IEEE International Conference on Smart Cities and Urban Computing</a:t>
            </a:r>
            <a:r>
              <a:rPr lang="en-US" sz="1800" dirty="0"/>
              <a:t>, pp. 210–215, 2018.</a:t>
            </a:r>
          </a:p>
          <a:p>
            <a:pPr marL="76200" indent="0">
              <a:buNone/>
            </a:pPr>
            <a:endParaRPr lang="en-US" sz="1800" dirty="0"/>
          </a:p>
          <a:p>
            <a:r>
              <a:rPr lang="en-US" sz="1800" dirty="0"/>
              <a:t>[6] Smart India Hackathon, “Problem statement: Real-Time Public Transport Tracking for Small Cities,” Government of India, 2025. </a:t>
            </a:r>
          </a:p>
          <a:p>
            <a:endParaRPr lang="en-IN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677</Words>
  <Application>Microsoft Office PowerPoint</Application>
  <PresentationFormat>Widescreen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</vt:lpstr>
      <vt:lpstr>Verdana</vt:lpstr>
      <vt:lpstr>Wingdings</vt:lpstr>
      <vt:lpstr>Bioinformatics</vt:lpstr>
      <vt:lpstr>REAL-TIME PUBLIC TRANSPORT TRACKING FOR SMALL CITIES</vt:lpstr>
      <vt:lpstr>Content</vt:lpstr>
      <vt:lpstr>Problem Statement</vt:lpstr>
      <vt:lpstr>Analysis of Problem Statement</vt:lpstr>
      <vt:lpstr>Analysis of Problem Statement (contd...)</vt:lpstr>
      <vt:lpstr>Innovation / Novel Contributions</vt:lpstr>
      <vt:lpstr>Github Link</vt:lpstr>
      <vt:lpstr>Timeline of the Project (Gantt Chart)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Keerthi G</cp:lastModifiedBy>
  <cp:revision>50</cp:revision>
  <dcterms:modified xsi:type="dcterms:W3CDTF">2026-02-05T06:56:36Z</dcterms:modified>
</cp:coreProperties>
</file>